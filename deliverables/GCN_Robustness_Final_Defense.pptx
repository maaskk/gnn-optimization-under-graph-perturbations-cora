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4a6bd751a64c8c" /><Relationship Type="http://schemas.openxmlformats.org/officeDocument/2006/relationships/extended-properties" Target="/docProps/app.xml" Id="Rfdbf3636ada44bbd" /><Relationship Type="http://schemas.openxmlformats.org/officeDocument/2006/relationships/officeDocument" Target="/ppt/presentation.xml" Id="R5a986e95744644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d351661db4cfd"/>
  </p:sldMasterIdLst>
  <p:notesMasterIdLst>
    <p:notesMasterId xmlns:r="http://schemas.openxmlformats.org/officeDocument/2006/relationships" r:id="Ref9ed744d9cd4fbe"/>
  </p:notesMasterIdLst>
  <p:sldIdLst>
    <p:sldId xmlns:r="http://schemas.openxmlformats.org/officeDocument/2006/relationships" id="256" r:id="R29c4cd2380fb402d"/>
    <p:sldId xmlns:r="http://schemas.openxmlformats.org/officeDocument/2006/relationships" id="257" r:id="Refc594fa94404cca"/>
    <p:sldId xmlns:r="http://schemas.openxmlformats.org/officeDocument/2006/relationships" id="258" r:id="R3fd3ff5a7e2547b5"/>
    <p:sldId xmlns:r="http://schemas.openxmlformats.org/officeDocument/2006/relationships" id="259" r:id="R1cb94950ca1e414f"/>
    <p:sldId xmlns:r="http://schemas.openxmlformats.org/officeDocument/2006/relationships" id="260" r:id="R566babf141c3423a"/>
    <p:sldId xmlns:r="http://schemas.openxmlformats.org/officeDocument/2006/relationships" id="261" r:id="Rb437bc80bc7a4efb"/>
    <p:sldId xmlns:r="http://schemas.openxmlformats.org/officeDocument/2006/relationships" id="262" r:id="Rc8d41d246cb34f38"/>
    <p:sldId xmlns:r="http://schemas.openxmlformats.org/officeDocument/2006/relationships" id="263" r:id="R61bde54aee9549fb"/>
    <p:sldId xmlns:r="http://schemas.openxmlformats.org/officeDocument/2006/relationships" id="264" r:id="R11ba67ef43c24d1d"/>
    <p:sldId xmlns:r="http://schemas.openxmlformats.org/officeDocument/2006/relationships" id="265" r:id="R43e04048a075419d"/>
    <p:sldId xmlns:r="http://schemas.openxmlformats.org/officeDocument/2006/relationships" id="266" r:id="R45f3509411f24d86"/>
    <p:sldId xmlns:r="http://schemas.openxmlformats.org/officeDocument/2006/relationships" id="267" r:id="Rba4468648fb94c87"/>
    <p:sldId xmlns:r="http://schemas.openxmlformats.org/officeDocument/2006/relationships" id="268" r:id="R0f782963d7d8487a"/>
    <p:sldId xmlns:r="http://schemas.openxmlformats.org/officeDocument/2006/relationships" id="269" r:id="R71996256e0e74bf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a7d46e49c4e95" /><Relationship Type="http://schemas.openxmlformats.org/officeDocument/2006/relationships/slideMaster" Target="/ppt/slideMasters/slideMaster1.xml" Id="Rd85d351661db4cfd" /><Relationship Type="http://schemas.openxmlformats.org/officeDocument/2006/relationships/notesMaster" Target="/ppt/notesMasters/notesMaster1.xml" Id="Ref9ed744d9cd4fbe" /><Relationship Type="http://schemas.openxmlformats.org/officeDocument/2006/relationships/presProps" Target="/ppt/presProps.xml" Id="R08ab90e8437b42a5" /><Relationship Type="http://schemas.openxmlformats.org/officeDocument/2006/relationships/tableStyles" Target="/ppt/tableStyles.xml" Id="R2c78ea71b7d74f28" /><Relationship Type="http://schemas.openxmlformats.org/officeDocument/2006/relationships/slide" Target="/ppt/slides/slide1.xml" Id="R29c4cd2380fb402d" /><Relationship Type="http://schemas.openxmlformats.org/officeDocument/2006/relationships/slide" Target="/ppt/slides/slide2.xml" Id="Refc594fa94404cca" /><Relationship Type="http://schemas.openxmlformats.org/officeDocument/2006/relationships/slide" Target="/ppt/slides/slide3.xml" Id="R3fd3ff5a7e2547b5" /><Relationship Type="http://schemas.openxmlformats.org/officeDocument/2006/relationships/slide" Target="/ppt/slides/slide4.xml" Id="R1cb94950ca1e414f" /><Relationship Type="http://schemas.openxmlformats.org/officeDocument/2006/relationships/slide" Target="/ppt/slides/slide5.xml" Id="R566babf141c3423a" /><Relationship Type="http://schemas.openxmlformats.org/officeDocument/2006/relationships/slide" Target="/ppt/slides/slide6.xml" Id="Rb437bc80bc7a4efb" /><Relationship Type="http://schemas.openxmlformats.org/officeDocument/2006/relationships/slide" Target="/ppt/slides/slide7.xml" Id="Rc8d41d246cb34f38" /><Relationship Type="http://schemas.openxmlformats.org/officeDocument/2006/relationships/slide" Target="/ppt/slides/slide8.xml" Id="R61bde54aee9549fb" /><Relationship Type="http://schemas.openxmlformats.org/officeDocument/2006/relationships/slide" Target="/ppt/slides/slide9.xml" Id="R11ba67ef43c24d1d" /><Relationship Type="http://schemas.openxmlformats.org/officeDocument/2006/relationships/slide" Target="/ppt/slides/slide10.xml" Id="R43e04048a075419d" /><Relationship Type="http://schemas.openxmlformats.org/officeDocument/2006/relationships/slide" Target="/ppt/slides/slide11.xml" Id="R45f3509411f24d86" /><Relationship Type="http://schemas.openxmlformats.org/officeDocument/2006/relationships/slide" Target="/ppt/slides/slide12.xml" Id="Rba4468648fb94c87" /><Relationship Type="http://schemas.openxmlformats.org/officeDocument/2006/relationships/slide" Target="/ppt/slides/slide13.xml" Id="R0f782963d7d8487a" /><Relationship Type="http://schemas.openxmlformats.org/officeDocument/2006/relationships/slide" Target="/ppt/slides/slide14.xml" Id="R71996256e0e74b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436ada6bce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e43f4a4bf498e" /><Relationship Type="http://schemas.openxmlformats.org/officeDocument/2006/relationships/notesMaster" Target="/ppt/notesMasters/notesMaster1.xml" Id="R750eec14923844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832acbd4a4e40" /><Relationship Type="http://schemas.openxmlformats.org/officeDocument/2006/relationships/notesMaster" Target="/ppt/notesMasters/notesMaster1.xml" Id="R8213e6198f1c48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1b1085003d4b5b" /><Relationship Type="http://schemas.openxmlformats.org/officeDocument/2006/relationships/notesMaster" Target="/ppt/notesMasters/notesMaster1.xml" Id="R1088da3df58849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d31a780b148e4" /><Relationship Type="http://schemas.openxmlformats.org/officeDocument/2006/relationships/notesMaster" Target="/ppt/notesMasters/notesMaster1.xml" Id="R137a970d33ea41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08f6cc7fd46b8" /><Relationship Type="http://schemas.openxmlformats.org/officeDocument/2006/relationships/notesMaster" Target="/ppt/notesMasters/notesMaster1.xml" Id="R9899736f7f4c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ae5a36b7d44d9" /><Relationship Type="http://schemas.openxmlformats.org/officeDocument/2006/relationships/notesMaster" Target="/ppt/notesMasters/notesMaster1.xml" Id="R61035b028de049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03e7bcdad64a13" /><Relationship Type="http://schemas.openxmlformats.org/officeDocument/2006/relationships/notesMaster" Target="/ppt/notesMasters/notesMaster1.xml" Id="R48a58855fa8c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e35d28a2024d39" /><Relationship Type="http://schemas.openxmlformats.org/officeDocument/2006/relationships/notesMaster" Target="/ppt/notesMasters/notesMaster1.xml" Id="R0c4882e636df48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d3947a49164418" /><Relationship Type="http://schemas.openxmlformats.org/officeDocument/2006/relationships/notesMaster" Target="/ppt/notesMasters/notesMaster1.xml" Id="R3ab8c657be5c4d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f2cf6e263f43e7" /><Relationship Type="http://schemas.openxmlformats.org/officeDocument/2006/relationships/notesMaster" Target="/ppt/notesMasters/notesMaster1.xml" Id="Raeedbdaca0d842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906e631d17467f" /><Relationship Type="http://schemas.openxmlformats.org/officeDocument/2006/relationships/notesMaster" Target="/ppt/notesMasters/notesMaster1.xml" Id="R9ccf04714dc342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afeddf7a5a4b27" /><Relationship Type="http://schemas.openxmlformats.org/officeDocument/2006/relationships/notesMaster" Target="/ppt/notesMasters/notesMaster1.xml" Id="R5a646adfafb647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280493c7ee453c" /><Relationship Type="http://schemas.openxmlformats.org/officeDocument/2006/relationships/notesMaster" Target="/ppt/notesMasters/notesMaster1.xml" Id="Rb99034e3cf3d41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9271a091e44872" /><Relationship Type="http://schemas.openxmlformats.org/officeDocument/2006/relationships/notesMaster" Target="/ppt/notesMasters/notesMaster1.xml" Id="R08601e3ab81242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27df77f0444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32847839fb4d0e" /><Relationship Type="http://schemas.openxmlformats.org/officeDocument/2006/relationships/slideLayout" Target="/ppt/slideLayouts/slideLayout1.xml" Id="R04893e969d4a49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93e969d4a49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6395965a84193" /><Relationship Type="http://schemas.openxmlformats.org/officeDocument/2006/relationships/image" Target="/ppt/media/image.png" Id="R13fa115edfd74a67" /><Relationship Type="http://schemas.openxmlformats.org/officeDocument/2006/relationships/notesSlide" Target="/ppt/notesSlides/notesSlide1.xml" Id="R1adace9aec794e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caf73ec3b49c1" /><Relationship Type="http://schemas.openxmlformats.org/officeDocument/2006/relationships/notesSlide" Target="/ppt/notesSlides/notesSlide2.xml" Id="R41d11e3d9f3d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0eacd8e2042c4" /><Relationship Type="http://schemas.openxmlformats.org/officeDocument/2006/relationships/notesSlide" Target="/ppt/notesSlides/notesSlide3.xml" Id="R1ed93f4bd87548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99e889b6f481d" /><Relationship Type="http://schemas.openxmlformats.org/officeDocument/2006/relationships/notesSlide" Target="/ppt/notesSlides/notesSlide4.xml" Id="R1d745ac5fca44b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86461f7ef479c" /><Relationship Type="http://schemas.openxmlformats.org/officeDocument/2006/relationships/notesSlide" Target="/ppt/notesSlides/notesSlide5.xml" Id="R3eb2409b011b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283781414661" /><Relationship Type="http://schemas.openxmlformats.org/officeDocument/2006/relationships/notesSlide" Target="/ppt/notesSlides/notesSlide6.xml" Id="Rdc0de2b306d842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ebd061b446ef" /><Relationship Type="http://schemas.openxmlformats.org/officeDocument/2006/relationships/notesSlide" Target="/ppt/notesSlides/notesSlide7.xml" Id="Rd7033fa103b841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9a0a539524fa0" /><Relationship Type="http://schemas.openxmlformats.org/officeDocument/2006/relationships/chart" Target="/ppt/slides/charts/chart1.xml" Id="Ra6de84d631c6436a" /><Relationship Type="http://schemas.openxmlformats.org/officeDocument/2006/relationships/notesSlide" Target="/ppt/notesSlides/notesSlide8.xml" Id="Rc3d5b958ffb347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c0a5447e4e20" /><Relationship Type="http://schemas.openxmlformats.org/officeDocument/2006/relationships/chart" Target="/ppt/slides/charts/chart2.xml" Id="R7be0bcb673e9486b" /><Relationship Type="http://schemas.openxmlformats.org/officeDocument/2006/relationships/notesSlide" Target="/ppt/notesSlides/notesSlide9.xml" Id="R5c5f720d28b44e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88bcd98eb40e5" /><Relationship Type="http://schemas.openxmlformats.org/officeDocument/2006/relationships/chart" Target="/ppt/slides/charts/chart3.xml" Id="Rc6c493edb6f9497e" /><Relationship Type="http://schemas.openxmlformats.org/officeDocument/2006/relationships/notesSlide" Target="/ppt/notesSlides/notesSlide10.xml" Id="Rb11e47185b8e4e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91423f9544383" /><Relationship Type="http://schemas.openxmlformats.org/officeDocument/2006/relationships/chart" Target="/ppt/slides/charts/chart4.xml" Id="R945b83eba38b4b6b" /><Relationship Type="http://schemas.openxmlformats.org/officeDocument/2006/relationships/chart" Target="/ppt/slides/charts/chart5.xml" Id="R0d7c330362f540b5" /><Relationship Type="http://schemas.openxmlformats.org/officeDocument/2006/relationships/notesSlide" Target="/ppt/notesSlides/notesSlide11.xml" Id="R084386d94fca49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9de8111543f2" /><Relationship Type="http://schemas.openxmlformats.org/officeDocument/2006/relationships/notesSlide" Target="/ppt/notesSlides/notesSlide12.xml" Id="R4863263202a741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69a9306cb4adf" /><Relationship Type="http://schemas.openxmlformats.org/officeDocument/2006/relationships/notesSlide" Target="/ppt/notesSlides/notesSlide13.xml" Id="R17b202c30f0d42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d97b334b6419c" /><Relationship Type="http://schemas.openxmlformats.org/officeDocument/2006/relationships/image" Target="/ppt/media/image2.png" Id="Rcb6dbff1834e44bd" /><Relationship Type="http://schemas.openxmlformats.org/officeDocument/2006/relationships/image" Target="/ppt/media/image3.png" Id="Re55841c490a944d6" /><Relationship Type="http://schemas.openxmlformats.org/officeDocument/2006/relationships/notesSlide" Target="/ppt/notesSlides/notesSlide14.xml" Id="Rccd7417bc35b4a0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5F7FB"/>
                </a:solidFill>
              </a:rPr>
              <a:t>Accuracy moyenne sur Cora propre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5F7FB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D1394A"/>
            </a:solidFill>
          </c:spPr>
          <c:dPt>
            <c:idx val="0"/>
            <c:spPr>
              <a:solidFill xmlns:a="http://schemas.openxmlformats.org/drawingml/2006/main">
                <a:srgbClr val="D1394A"/>
              </a:solidFill>
            </c:spPr>
          </c:dPt>
          <c:dPt>
            <c:idx val="1"/>
            <c:spPr>
              <a:solidFill xmlns:a="http://schemas.openxmlformats.org/drawingml/2006/main">
                <a:srgbClr val="7C8ED8"/>
              </a:solidFill>
            </c:spPr>
          </c:dPt>
          <c:dPt>
            <c:idx val="2"/>
            <c:spPr>
              <a:solidFill xmlns:a="http://schemas.openxmlformats.org/drawingml/2006/main">
                <a:srgbClr val="16A0A3"/>
              </a:solidFill>
            </c:spPr>
          </c:dPt>
          <c:dPt>
            <c:idx val="3"/>
            <c:spPr>
              <a:solidFill xmlns:a="http://schemas.openxmlformats.org/drawingml/2006/main">
                <a:srgbClr val="D59A35"/>
              </a:solidFill>
            </c:spPr>
          </c:dPt>
          <c:dPt>
            <c:idx val="4"/>
            <c:spPr>
              <a:solidFill xmlns:a="http://schemas.openxmlformats.org/drawingml/2006/main">
                <a:srgbClr val="9AA3B2"/>
              </a:solidFill>
            </c:spPr>
          </c:dPt>
          <c:dLbls/>
          <c:cat>
            <c:strLit>
              <c:ptCount val="5"/>
              <c:pt idx="0">
                <c:v>Adam</c:v>
              </c:pt>
              <c:pt idx="1">
                <c:v>RMSProp</c:v>
              </c:pt>
              <c:pt idx="2">
                <c:v>AdamW</c:v>
              </c:pt>
              <c:pt idx="3">
                <c:v>AdaGrad</c:v>
              </c:pt>
              <c:pt idx="4">
                <c:v>SGD</c:v>
              </c:pt>
            </c:strLit>
          </c:cat>
          <c:val>
            <c:numLit>
              <c:formatCode>0%</c:formatCode>
              <c:ptCount val="5"/>
              <c:pt idx="0">
                <c:v>0.811733</c:v>
              </c:pt>
              <c:pt idx="1">
                <c:v>0.8078670000000001</c:v>
              </c:pt>
              <c:pt idx="2">
                <c:v>0.7874</c:v>
              </c:pt>
              <c:pt idx="3">
                <c:v>0.7724</c:v>
              </c:pt>
              <c:pt idx="4">
                <c:v>0.149467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71E2B"/>
        </a:solidFill>
      </c:spPr>
    </c:plotArea>
    <c:plotVisOnly val="1"/>
  </c:chart>
  <c:spPr>
    <a:solidFill xmlns:a="http://schemas.openxmlformats.org/drawingml/2006/main">
      <a:srgbClr val="171E2B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5F7FB"/>
                </a:solidFill>
              </a:rPr>
              <a:t>Moyenne sur propre + perturbations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5F7FB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D1394A"/>
            </a:solidFill>
          </c:spPr>
          <c:dPt>
            <c:idx val="0"/>
            <c:spPr>
              <a:solidFill xmlns:a="http://schemas.openxmlformats.org/drawingml/2006/main">
                <a:srgbClr val="D1394A"/>
              </a:solidFill>
            </c:spPr>
          </c:dPt>
          <c:dPt>
            <c:idx val="1"/>
            <c:spPr>
              <a:solidFill xmlns:a="http://schemas.openxmlformats.org/drawingml/2006/main">
                <a:srgbClr val="7C8ED8"/>
              </a:solidFill>
            </c:spPr>
          </c:dPt>
          <c:dPt>
            <c:idx val="2"/>
            <c:spPr>
              <a:solidFill xmlns:a="http://schemas.openxmlformats.org/drawingml/2006/main">
                <a:srgbClr val="16A0A3"/>
              </a:solidFill>
            </c:spPr>
          </c:dPt>
          <c:dPt>
            <c:idx val="3"/>
            <c:spPr>
              <a:solidFill xmlns:a="http://schemas.openxmlformats.org/drawingml/2006/main">
                <a:srgbClr val="D59A35"/>
              </a:solidFill>
            </c:spPr>
          </c:dPt>
          <c:dPt>
            <c:idx val="4"/>
            <c:spPr>
              <a:solidFill xmlns:a="http://schemas.openxmlformats.org/drawingml/2006/main">
                <a:srgbClr val="9AA3B2"/>
              </a:solidFill>
            </c:spPr>
          </c:dPt>
          <c:dLbls/>
          <c:cat>
            <c:strLit>
              <c:ptCount val="5"/>
              <c:pt idx="0">
                <c:v>Adam</c:v>
              </c:pt>
              <c:pt idx="1">
                <c:v>RMSProp</c:v>
              </c:pt>
              <c:pt idx="2">
                <c:v>AdamW</c:v>
              </c:pt>
              <c:pt idx="3">
                <c:v>AdaGrad</c:v>
              </c:pt>
              <c:pt idx="4">
                <c:v>SGD</c:v>
              </c:pt>
            </c:strLit>
          </c:cat>
          <c:val>
            <c:numLit>
              <c:formatCode>0%</c:formatCode>
              <c:ptCount val="5"/>
              <c:pt idx="0">
                <c:v>0.7941228749999999</c:v>
              </c:pt>
              <c:pt idx="1">
                <c:v>0.7917293125</c:v>
              </c:pt>
              <c:pt idx="2">
                <c:v>0.7679645625</c:v>
              </c:pt>
              <c:pt idx="3">
                <c:v>0.7516083125</c:v>
              </c:pt>
              <c:pt idx="4">
                <c:v>0.14171675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71E2B"/>
        </a:solidFill>
      </c:spPr>
    </c:plotArea>
    <c:plotVisOnly val="1"/>
  </c:chart>
  <c:spPr>
    <a:solidFill xmlns:a="http://schemas.openxmlformats.org/drawingml/2006/main">
      <a:srgbClr val="171E2B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5F7FB"/>
                </a:solidFill>
              </a:rPr>
              <a:t>Accuracy moyenne par taux de masquage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5F7FB"/>
              </a:solidFill>
            </a:defRPr>
          </a:pPr>
        </a:p>
      </c:txPr>
    </c:title>
    <c:autoTitleDeleted val="0"/>
    <c:plotArea>
      <c:lineChart>
        <c:grouping val="standard"/>
        <c:ser>
          <c:idx val="0"/>
          <c:order val="0"/>
          <c:tx>
            <c:v>Adam</c:v>
          </c:tx>
          <c:spPr>
            <a:ln xmlns:a="http://schemas.openxmlformats.org/drawingml/2006/main" w="19050">
              <a:solidFill>
                <a:srgbClr val="D1394A"/>
              </a:solidFill>
            </a:ln>
          </c:spPr>
          <c:marker>
            <c:symbol val="circle"/>
            <c:size val="5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0.8039</c:v>
              </c:pt>
              <c:pt idx="1">
                <c:v>0.7998</c:v>
              </c:pt>
              <c:pt idx="2">
                <c:v>0.794267</c:v>
              </c:pt>
              <c:pt idx="3">
                <c:v>0.784</c:v>
              </c:pt>
            </c:numLit>
          </c:val>
          <c:smooth val="0"/>
        </c:ser>
        <c:ser>
          <c:idx val="1"/>
          <c:order val="1"/>
          <c:tx>
            <c:v>AdamW</c:v>
          </c:tx>
          <c:spPr>
            <a:ln xmlns:a="http://schemas.openxmlformats.org/drawingml/2006/main" w="19050">
              <a:solidFill>
                <a:srgbClr val="16A0A3"/>
              </a:solidFill>
            </a:ln>
          </c:spPr>
          <c:marker>
            <c:symbol val="circle"/>
            <c:size val="5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0.7808</c:v>
              </c:pt>
              <c:pt idx="1">
                <c:v>0.7763</c:v>
              </c:pt>
              <c:pt idx="2">
                <c:v>0.774133</c:v>
              </c:pt>
              <c:pt idx="3">
                <c:v>0.7652</c:v>
              </c:pt>
            </c:numLit>
          </c:val>
          <c:smooth val="0"/>
        </c:ser>
        <c:ser>
          <c:idx val="2"/>
          <c:order val="2"/>
          <c:tx>
            <c:v>RMSProp</c:v>
          </c:tx>
          <c:spPr>
            <a:ln xmlns:a="http://schemas.openxmlformats.org/drawingml/2006/main" w="19050">
              <a:solidFill>
                <a:srgbClr val="7C8ED8"/>
              </a:solidFill>
            </a:ln>
          </c:spPr>
          <c:marker>
            <c:symbol val="circle"/>
            <c:size val="5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0.8004</c:v>
              </c:pt>
              <c:pt idx="1">
                <c:v>0.7968</c:v>
              </c:pt>
              <c:pt idx="2">
                <c:v>0.797267</c:v>
              </c:pt>
              <c:pt idx="3">
                <c:v>0.7875</c:v>
              </c:pt>
            </c:numLit>
          </c:val>
          <c:smooth val="0"/>
        </c:ser>
        <c:ser>
          <c:idx val="3"/>
          <c:order val="3"/>
          <c:tx>
            <c:v>AdaGrad</c:v>
          </c:tx>
          <c:spPr>
            <a:ln xmlns:a="http://schemas.openxmlformats.org/drawingml/2006/main" w="19050">
              <a:solidFill>
                <a:srgbClr val="D59A35"/>
              </a:solidFill>
            </a:ln>
          </c:spPr>
          <c:marker>
            <c:symbol val="circle"/>
            <c:size val="5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0.7756</c:v>
              </c:pt>
              <c:pt idx="1">
                <c:v>0.7616</c:v>
              </c:pt>
              <c:pt idx="2">
                <c:v>0.7438</c:v>
              </c:pt>
              <c:pt idx="3">
                <c:v>0.7303</c:v>
              </c:pt>
            </c:numLit>
          </c:val>
          <c:smooth val="0"/>
        </c:ser>
        <c:ser>
          <c:idx val="4"/>
          <c:order val="4"/>
          <c:tx>
            <c:v>SGD</c:v>
          </c:tx>
          <c:spPr>
            <a:ln xmlns:a="http://schemas.openxmlformats.org/drawingml/2006/main" w="19050">
              <a:solidFill>
                <a:srgbClr val="9AA3B2"/>
              </a:solidFill>
            </a:ln>
          </c:spPr>
          <c:marker>
            <c:symbol val="circle"/>
            <c:size val="5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0.1356</c:v>
              </c:pt>
              <c:pt idx="1">
                <c:v>0.165</c:v>
              </c:pt>
              <c:pt idx="2">
                <c:v>0.1294</c:v>
              </c:pt>
              <c:pt idx="3">
                <c:v>0.1301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71E2B"/>
        </a:solidFill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171E2B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5F7FB"/>
                </a:solidFill>
              </a:rPr>
              <a:t>Suppression d'arêtes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5F7FB"/>
              </a:solidFill>
            </a:defRPr>
          </a:pPr>
        </a:p>
      </c:txPr>
    </c:title>
    <c:autoTitleDeleted val="0"/>
    <c:plotArea>
      <c:lineChart>
        <c:grouping val="standard"/>
        <c:ser>
          <c:idx val="0"/>
          <c:order val="0"/>
          <c:tx>
            <c:v>Adam</c:v>
          </c:tx>
          <c:spPr>
            <a:ln xmlns:a="http://schemas.openxmlformats.org/drawingml/2006/main" w="19050">
              <a:solidFill>
                <a:srgbClr val="D1394A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0.8057000000000001</c:v>
              </c:pt>
              <c:pt idx="1">
                <c:v>0.8019000000000001</c:v>
              </c:pt>
              <c:pt idx="2">
                <c:v>0.7858</c:v>
              </c:pt>
              <c:pt idx="3">
                <c:v>0.774</c:v>
              </c:pt>
            </c:numLit>
          </c:val>
          <c:smooth val="0"/>
        </c:ser>
        <c:ser>
          <c:idx val="1"/>
          <c:order val="1"/>
          <c:tx>
            <c:v>AdamW</c:v>
          </c:tx>
          <c:spPr>
            <a:ln xmlns:a="http://schemas.openxmlformats.org/drawingml/2006/main" w="19050">
              <a:solidFill>
                <a:srgbClr val="16A0A3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0.7815</c:v>
              </c:pt>
              <c:pt idx="1">
                <c:v>0.769</c:v>
              </c:pt>
              <c:pt idx="2">
                <c:v>0.759467</c:v>
              </c:pt>
              <c:pt idx="3">
                <c:v>0.7358</c:v>
              </c:pt>
            </c:numLit>
          </c:val>
          <c:smooth val="0"/>
        </c:ser>
        <c:ser>
          <c:idx val="2"/>
          <c:order val="2"/>
          <c:tx>
            <c:v>RMSProp</c:v>
          </c:tx>
          <c:spPr>
            <a:ln xmlns:a="http://schemas.openxmlformats.org/drawingml/2006/main" w="19050">
              <a:solidFill>
                <a:srgbClr val="7C8ED8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0.8016</c:v>
              </c:pt>
              <c:pt idx="1">
                <c:v>0.7936</c:v>
              </c:pt>
              <c:pt idx="2">
                <c:v>0.789067</c:v>
              </c:pt>
              <c:pt idx="3">
                <c:v>0.7767</c:v>
              </c:pt>
            </c:numLit>
          </c:val>
          <c:smooth val="0"/>
        </c:ser>
        <c:ser>
          <c:idx val="3"/>
          <c:order val="3"/>
          <c:tx>
            <c:v>AdaGrad</c:v>
          </c:tx>
          <c:spPr>
            <a:ln xmlns:a="http://schemas.openxmlformats.org/drawingml/2006/main" w="19050">
              <a:solidFill>
                <a:srgbClr val="D59A35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0.7616</c:v>
              </c:pt>
              <c:pt idx="1">
                <c:v>0.7673</c:v>
              </c:pt>
              <c:pt idx="2">
                <c:v>0.741333</c:v>
              </c:pt>
              <c:pt idx="3">
                <c:v>0.7453</c:v>
              </c:pt>
            </c:numLit>
          </c:val>
          <c:smooth val="0"/>
        </c:ser>
        <c:ser>
          <c:idx val="4"/>
          <c:order val="4"/>
          <c:tx>
            <c:v>SGD</c:v>
          </c:tx>
          <c:spPr>
            <a:ln xmlns:a="http://schemas.openxmlformats.org/drawingml/2006/main" w="19050">
              <a:solidFill>
                <a:srgbClr val="9AA3B2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0.1581</c:v>
              </c:pt>
              <c:pt idx="1">
                <c:v>0.1274</c:v>
              </c:pt>
              <c:pt idx="2">
                <c:v>0.14</c:v>
              </c:pt>
              <c:pt idx="3">
                <c:v>0.1643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71E2B"/>
        </a:solidFill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171E2B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5F7FB"/>
                </a:solidFill>
              </a:rPr>
              <a:t>Ajout de fausses arêtes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5F7FB"/>
              </a:solidFill>
            </a:defRPr>
          </a:pPr>
        </a:p>
      </c:txPr>
    </c:title>
    <c:autoTitleDeleted val="0"/>
    <c:plotArea>
      <c:lineChart>
        <c:grouping val="standard"/>
        <c:ser>
          <c:idx val="0"/>
          <c:order val="0"/>
          <c:tx>
            <c:v>Adam</c:v>
          </c:tx>
          <c:spPr>
            <a:ln xmlns:a="http://schemas.openxmlformats.org/drawingml/2006/main" w="19050">
              <a:solidFill>
                <a:srgbClr val="D1394A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0.7999</c:v>
              </c:pt>
              <c:pt idx="1">
                <c:v>0.7878</c:v>
              </c:pt>
              <c:pt idx="2">
                <c:v>0.769667</c:v>
              </c:pt>
              <c:pt idx="3">
                <c:v>0.7523</c:v>
              </c:pt>
            </c:numLit>
          </c:val>
          <c:smooth val="0"/>
        </c:ser>
        <c:ser>
          <c:idx val="1"/>
          <c:order val="1"/>
          <c:tx>
            <c:v>AdamW</c:v>
          </c:tx>
          <c:spPr>
            <a:ln xmlns:a="http://schemas.openxmlformats.org/drawingml/2006/main" w="19050">
              <a:solidFill>
                <a:srgbClr val="16A0A3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0.7706</c:v>
              </c:pt>
              <c:pt idx="1">
                <c:v>0.7673</c:v>
              </c:pt>
              <c:pt idx="2">
                <c:v>0.735133</c:v>
              </c:pt>
              <c:pt idx="3">
                <c:v>0.7226</c:v>
              </c:pt>
            </c:numLit>
          </c:val>
          <c:smooth val="0"/>
        </c:ser>
        <c:ser>
          <c:idx val="2"/>
          <c:order val="2"/>
          <c:tx>
            <c:v>RMSProp</c:v>
          </c:tx>
          <c:spPr>
            <a:ln xmlns:a="http://schemas.openxmlformats.org/drawingml/2006/main" w="19050">
              <a:solidFill>
                <a:srgbClr val="7C8ED8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0.7974</c:v>
              </c:pt>
              <c:pt idx="1">
                <c:v>0.7834</c:v>
              </c:pt>
              <c:pt idx="2">
                <c:v>0.767067</c:v>
              </c:pt>
              <c:pt idx="3">
                <c:v>0.7454</c:v>
              </c:pt>
            </c:numLit>
          </c:val>
          <c:smooth val="0"/>
        </c:ser>
        <c:ser>
          <c:idx val="3"/>
          <c:order val="3"/>
          <c:tx>
            <c:v>AdaGrad</c:v>
          </c:tx>
          <c:spPr>
            <a:ln xmlns:a="http://schemas.openxmlformats.org/drawingml/2006/main" w="19050">
              <a:solidFill>
                <a:srgbClr val="D59A35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0.7554</c:v>
              </c:pt>
              <c:pt idx="1">
                <c:v>0.7505</c:v>
              </c:pt>
              <c:pt idx="2">
                <c:v>0.7166</c:v>
              </c:pt>
              <c:pt idx="3">
                <c:v>0.6868</c:v>
              </c:pt>
            </c:numLit>
          </c:val>
          <c:smooth val="0"/>
        </c:ser>
        <c:ser>
          <c:idx val="4"/>
          <c:order val="4"/>
          <c:tx>
            <c:v>SGD</c:v>
          </c:tx>
          <c:spPr>
            <a:ln xmlns:a="http://schemas.openxmlformats.org/drawingml/2006/main" w="19050">
              <a:solidFill>
                <a:srgbClr val="9AA3B2"/>
              </a:solidFill>
            </a:ln>
          </c:spPr>
          <c:marker>
            <c:symbol val="none"/>
          </c:marker>
          <c:dLbls/>
          <c:cat>
            <c:strLit>
              <c:ptCount val="4"/>
              <c:pt idx="0">
                <c:v>5%</c:v>
              </c:pt>
              <c:pt idx="1">
                <c:v>10%</c:v>
              </c:pt>
              <c:pt idx="2">
                <c:v>20%</c:v>
              </c:pt>
              <c:pt idx="3">
                <c:v>30%</c:v>
              </c:pt>
            </c:strLit>
          </c:cat>
          <c:val>
            <c:numLit>
              <c:formatCode>0%</c:formatCode>
              <c:ptCount val="4"/>
              <c:pt idx="0">
                <c:v>0.1236</c:v>
              </c:pt>
              <c:pt idx="1">
                <c:v>0.1413</c:v>
              </c:pt>
              <c:pt idx="2">
                <c:v>0.1326</c:v>
              </c:pt>
              <c:pt idx="3">
                <c:v>0.1222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71E2B"/>
        </a:solidFill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171E2B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2DDD6-DB3A-4A64-BBBD-EDB9993C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852C7-BF53-4154-A87D-3331330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814F7-A14F-4E7C-B456-6F5E37FF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704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</a:defRPr>
            </a:pPr>
            <a:r>
              <a:rPr sz="3000" b="1">
                <a:solidFill>
                  <a:srgbClr val="F5F7FB"/>
                </a:solidFill>
              </a:rPr>
              <a:t>Robustesse des GNN sous perturbations aléatoires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8DB18-3AA7-4A01-9F66-EAB7267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8C8"/>
                </a:solidFill>
              </a:defRPr>
            </a:pPr>
            <a:r>
              <a:rPr sz="1350" b="0">
                <a:solidFill>
                  <a:srgbClr val="AEB8C8"/>
                </a:solidFill>
              </a:rPr>
              <a:t>Adam vs AdamW vs RMSProp vs AdaGrad vs SGD sur Cora Citation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57B36-7EC2-47C3-980E-E334CCD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527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4F66E-0305-4560-B966-A5C73363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Runs principaux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D55DB-39A8-4866-8607-55DB842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650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9784D-E3D9-4B84-BD3B-E5C684C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A6F7C-7CC7-4C25-8654-DDAA65C2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86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Graines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3CC1D-A59E-43BC-ABAA-2F67725D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337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DB966-FAC1-4EB4-8B2F-0AC44762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79FEF-53C8-46CA-8EEA-58BA59F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Époques/run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36ADF-58DD-41D6-9383-667B18B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200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a115edfd74a67"/>
          <a:stretch xmlns:a="http://schemas.openxmlformats.org/drawingml/2006/main"/>
        </p:blipFill>
        <p:spPr>
          <a:xfrm xmlns:a="http://schemas.openxmlformats.org/drawingml/2006/main">
            <a:off x="7391400" y="285750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2C0F6-AD7A-40BF-ADB1-0242289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EB8C8"/>
                </a:solidFill>
              </a:defRPr>
            </a:pPr>
            <a:r>
              <a:rPr sz="900" b="1">
                <a:solidFill>
                  <a:srgbClr val="AEB8C8"/>
                </a:solidFill>
              </a:rPr>
              <a:t>Tableau de bord</a:t>
            </a:r>
          </a:p>
        </p:txBody>
      </p:sp>
    </p:spTree>
    <p:extLst>
      <p:ext uri="{BB962C8B-B14F-4D97-AF65-F5344CB8AC3E}">
        <p14:creationId xmlns:p14="http://schemas.microsoft.com/office/powerpoint/2010/main" val="1738349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1DF22-0E9D-4B6B-9FA1-549ADCFF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83B66-7260-4839-98D5-C93235F7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B4025-365D-4082-9FF6-379440DA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Contexte et question de recherche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813C-B4B4-4E66-996D-39FED2E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3170A-15E2-4CF8-B94E-A0072DE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Les GNN dépendent fortement de la structure du graphe.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C49D6-3803-40B4-B76A-E7BB431A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631A4-3E7A-4D04-8C51-3125AC59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Cora peut perdre des attributs actifs, des arêtes, ou recevoir de fausses arêtes.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BF321-456D-4A69-AD39-3309D89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8F3D4-AAB1-43AB-970E-DC2BA9D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Question: quel optimiseur reste le plus stable sous un protocole fixe?</a:t>
            </a:r>
          </a:p>
        </p:txBody>
      </p:sp>
    </p:spTree>
    <p:extLst>
      <p:ext uri="{BB962C8B-B14F-4D97-AF65-F5344CB8AC3E}">
        <p14:creationId xmlns:p14="http://schemas.microsoft.com/office/powerpoint/2010/main" val="764668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E1339-BD26-4E3C-BC45-6B26115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D6CEF-C6D4-4C7C-90D0-D958029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65431-D766-4013-9CE7-46ECE93D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Cora et architecture GCN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49D10-A367-4A79-AEA2-D5B1C9B2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DAB45-6E65-437B-8EA8-FC22776C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Noeuds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86CD7-A9F0-4A42-86D5-B12FCAFA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2708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EB627-5D41-4CFD-A31E-54A35296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9AA16-62C7-4194-BB7E-CEBF7D56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3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Attributs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B73F-BDF7-4AEB-8783-F268F057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1433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5370F-6202-4B73-9247-65E0A9FC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4F536-BC59-4D89-97EB-5CCC497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43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9BA97-70C4-4CD2-A70F-0FCAE85A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1CB46-B78E-4730-BCA2-1FA0D27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C899C-90A1-4F1A-BBFC-00D8D275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39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GCN à deux couches, 16 canaux cachés, ReLU et dropout 0.5.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BDE28-3A13-454B-85A7-3B4D9302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895A2-9115-43DA-A86F-66949E5D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739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Perte cross-entropy sur le masque d'entraînement.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459DF-5838-4DA5-8CA7-165C1D5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47F0F-DF2D-4A46-865F-AA667844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739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Même split et même architecture pour tous les optimiseurs.</a:t>
            </a:r>
          </a:p>
        </p:txBody>
      </p:sp>
    </p:spTree>
    <p:extLst>
      <p:ext uri="{BB962C8B-B14F-4D97-AF65-F5344CB8AC3E}">
        <p14:creationId xmlns:p14="http://schemas.microsoft.com/office/powerpoint/2010/main" val="2006900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E8401-F994-440C-AAB0-33013509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36BB5-EC92-4126-8D8D-E9AC9C7B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203AC-C52A-4D0F-97CF-C9261E21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Optimiseurs comparés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70BB8-165B-495A-BBC8-3C2D926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EC956-A96A-4349-AD9A-B19C606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Adam et AdamW: méthodes adaptatives très utilisées en deep learning.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A8611-DD56-4273-819C-8FC0AA5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0F25C-803C-4E3F-B774-1CDB8322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RMSProp et AdaGrad: adaptation du pas par historique de gradients.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59B24-5D0E-4913-964D-0949AB79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53FBC-D475-4D76-9C0B-96139CF5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SGD: référence non adaptative, interprétée uniquement dans ce protocole.</a:t>
            </a:r>
          </a:p>
        </p:txBody>
      </p:sp>
    </p:spTree>
    <p:extLst>
      <p:ext uri="{BB962C8B-B14F-4D97-AF65-F5344CB8AC3E}">
        <p14:creationId xmlns:p14="http://schemas.microsoft.com/office/powerpoint/2010/main" val="43349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7140D-8520-4C3B-9B4B-870386E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66873-5EE3-4286-BC74-3FBAAB7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2217F-D6E3-4436-B338-7D85868F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Protocole expérimental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6EDF1-8346-4982-B982-107D55F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2642F-D60B-490F-B4B5-C586B27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Optimiseurs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0974A-B86F-4AEB-90F0-7890576C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A599D-8740-4B39-B76A-8E339EF3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9070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66B5-FBEC-45E9-A9C0-FA0FF31F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6BA3C-CAA8-4C25-A9FF-AF5CBD37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C8425-58AD-4C43-A581-00FB038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E1C30-62A1-42D1-B27C-DC61BC50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Graines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1CFF9-9AA9-45A2-B7BF-3B20C98D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E85A3-1540-4763-AFF8-AA7EACD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C6BF6-DF22-49AA-947C-FB5247D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F4E4F-4AE5-48EC-99EB-32D6681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650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8A495-BD04-4C03-A448-2E3FBC3F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53006-C328-42D8-9798-902717D8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Budget fixe: 200 époques par entraînement.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DC33C-822D-4B35-A5BE-4C62FDB3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1E40F-FFE9-492D-BA43-0CEFDBD7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Les métriques sont moyennées avec écart-type et IC95.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B88A-6991-4319-AB82-28F674CA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9F7C9-58D4-4BE9-985D-F6885F9E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Le test n'est jamais utilisé pour choisir les hyperparamètres.</a:t>
            </a:r>
          </a:p>
        </p:txBody>
      </p:sp>
    </p:spTree>
    <p:extLst>
      <p:ext uri="{BB962C8B-B14F-4D97-AF65-F5344CB8AC3E}">
        <p14:creationId xmlns:p14="http://schemas.microsoft.com/office/powerpoint/2010/main" val="1792903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DA2CF-8DA0-4EF1-811E-F49127CC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E40B6-1A99-4206-AA14-A0640C23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38086-94F4-4DEA-B3F1-4BE35599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Perturbations aléatoires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B9438-38C3-4A7B-BFEF-DB5D8A4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239BF-C856-40AB-B15D-26CC1EA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Masquage aléatoire d’une proportion de caractéristiques actives non nulles.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AF827-CD81-4DC6-B687-BE4AF6AC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25177-9CCF-4850-BD52-754EA6E1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Edge removal: suppression de connexions non orientées uniques.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13D87-6E32-4A5D-8E05-F70A66B8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DC6D4-4A68-430F-8FEE-C40B1FA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Fake edge addition: ajout de paires non connectées, sans self-loop ni duplicat.</a:t>
            </a:r>
          </a:p>
        </p:txBody>
      </p:sp>
    </p:spTree>
    <p:extLst>
      <p:ext uri="{BB962C8B-B14F-4D97-AF65-F5344CB8AC3E}">
        <p14:creationId xmlns:p14="http://schemas.microsoft.com/office/powerpoint/2010/main" val="1161200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8C0C4F-D709-46FA-AE2D-6D2C87D9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DFABF-EFE1-4EE5-8990-F4558DF7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63A3E-8DA0-4C6F-8CB7-AAF1876A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Garanties scientifiques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68F6-CE1C-44C6-9698-3ED2597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6C004-B23F-455B-BB77-7EA7F71F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Graines appariées pour comparer les optimiseurs.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23256-98D2-42E6-BFDD-6C952D1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B6C8E-17B4-4E5C-B78C-71DF957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IC95 et bootstrap apparié pour les différences clés.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EBB02-A5F1-4307-8ECC-D3113184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A92BB-5463-4ADC-9755-2E95B759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Test de Wilcoxon et correction de Holm quand les données le permettent.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32141-3C67-4472-8782-F3E92988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297D4-FA8F-4F20-9B62-58BC94A3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Conclusion limitée au dataset, au GCN et au protocole étudiés.</a:t>
            </a:r>
          </a:p>
        </p:txBody>
      </p:sp>
    </p:spTree>
    <p:extLst>
      <p:ext uri="{BB962C8B-B14F-4D97-AF65-F5344CB8AC3E}">
        <p14:creationId xmlns:p14="http://schemas.microsoft.com/office/powerpoint/2010/main" val="1167384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4D4B7-62C3-4938-8B3F-2C6E8F69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0750B-A11F-40FD-B058-17540C16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3ACC6-99E4-4B28-A3AE-E326022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Performances sur graphe propre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5905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de84d631c6436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3C6A1-1695-477F-867B-C5C6EA5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B"/>
                </a:solidFill>
              </a:defRPr>
            </a:pPr>
            <a:r>
              <a:rPr sz="1650" b="1">
                <a:solidFill>
                  <a:srgbClr val="F5F7FB"/>
                </a:solidFill>
              </a:rPr>
              <a:t>Meilleur score propre: Adam (81.2%)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EF0C9-3F07-4033-BEBD-43307C3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</a:defRPr>
            </a:pPr>
            <a:r>
              <a:rPr sz="1125" b="0">
                <a:solidFill>
                  <a:srgbClr val="AEB8C8"/>
                </a:solidFill>
              </a:rPr>
              <a:t>Les barres doivent être lues avec les intervalles du rapport.</a:t>
            </a:r>
          </a:p>
        </p:txBody>
      </p:sp>
    </p:spTree>
    <p:extLst>
      <p:ext uri="{BB962C8B-B14F-4D97-AF65-F5344CB8AC3E}">
        <p14:creationId xmlns:p14="http://schemas.microsoft.com/office/powerpoint/2010/main" val="745437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0B655-F505-4C73-BF0A-7BE7E23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C8FB3-0584-4B50-9814-510D3D0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553D7-3064-4ABA-8211-A4B51F8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Robustesse agrégée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096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e0bcb673e9486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225AB-DB69-48CE-8521-F9467DAD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695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8C8"/>
                </a:solidFill>
              </a:defRPr>
            </a:pPr>
            <a:r>
              <a:rPr sz="1200" b="0">
                <a:solidFill>
                  <a:srgbClr val="AEB8C8"/>
                </a:solidFill>
              </a:rPr>
              <a:t>Adam et RMSProp restent proches: les petites différences ne sont pas appelées dominance.</a:t>
            </a:r>
          </a:p>
        </p:txBody>
      </p:sp>
    </p:spTree>
    <p:extLst>
      <p:ext uri="{BB962C8B-B14F-4D97-AF65-F5344CB8AC3E}">
        <p14:creationId xmlns:p14="http://schemas.microsoft.com/office/powerpoint/2010/main" val="1177159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8694F-6E2F-4FF2-A215-7C34B8A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E5A64-2681-4D1C-9738-6F5E1A60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E6A23-D292-4C0E-B68C-C7F7D9F8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Robustesse au masquage d'attributs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7239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c493edb6f9497e"/>
          </a:graphicData>
        </a:graphic>
      </p:graphicFrame>
    </p:spTree>
    <p:extLst>
      <p:ext uri="{BB962C8B-B14F-4D97-AF65-F5344CB8AC3E}">
        <p14:creationId xmlns:p14="http://schemas.microsoft.com/office/powerpoint/2010/main" val="1312297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A8DF82-08B9-4152-9B16-35185419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66FDD-639B-4A81-BB09-134E7373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7A541-9ED8-4DEA-9221-B941A5BD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Robustesse structurelle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3905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5b83eba38b4b6b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762500" y="1428750"/>
          <a:ext xmlns:a="http://schemas.openxmlformats.org/drawingml/2006/main" cx="3905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7c330362f540b5"/>
          </a:graphicData>
        </a:graphic>
      </p:graphicFrame>
    </p:spTree>
    <p:extLst>
      <p:ext uri="{BB962C8B-B14F-4D97-AF65-F5344CB8AC3E}">
        <p14:creationId xmlns:p14="http://schemas.microsoft.com/office/powerpoint/2010/main" val="493624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3E88E-A69B-4032-834C-AFD0136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97BEF-56BF-478B-856F-A78CA562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1C00D-434A-449F-BFE3-CC07F282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Validation complémentaire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45E9F-FF44-475B-838A-B563E3E3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2095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F9CD7-A787-4322-A326-73E09C73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Cross-dataset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FF4E-2EDB-4F7C-A171-E5840119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E27FF-3565-425B-B94A-28F5E606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095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C3D35-F51F-47D6-B952-6710D3C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47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Protocole tuné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FFB0-5C2D-4965-A67C-AE37CF7B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95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2B2E0-813A-43CF-B9A2-E82622DC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2095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02938"/>
          </a:solidFill>
          <a:ln xmlns:a="http://schemas.openxmlformats.org/drawingml/2006/main" w="9525">
            <a:solidFill>
              <a:srgbClr val="354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7789B-73C4-4C48-A850-AB5B1B4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47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8C8"/>
                </a:solidFill>
              </a:defRPr>
            </a:pPr>
            <a:r>
              <a:rPr sz="825" b="1">
                <a:solidFill>
                  <a:srgbClr val="AEB8C8"/>
                </a:solidFill>
              </a:rPr>
              <a:t>Inférence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C3B9F-9070-4FFC-A933-AC4E1438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443D3-11F8-4202-B588-20F4D078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FA0EE-66CE-46CE-B094-E759195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720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Ces validations ne remplacent pas le coeur Cora: elles testent la stabilité des conclusions.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84D9A-86D6-482B-AB0C-AE21E696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576F4-A709-485B-AF35-192CF216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720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Les résultats absents ne sont pas inventés; ils restent marqués comme en attente.</a:t>
            </a:r>
          </a:p>
        </p:txBody>
      </p:sp>
    </p:spTree>
    <p:extLst>
      <p:ext uri="{BB962C8B-B14F-4D97-AF65-F5344CB8AC3E}">
        <p14:creationId xmlns:p14="http://schemas.microsoft.com/office/powerpoint/2010/main" val="8526320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09577-2FA3-4280-9892-48B3D97D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39825-11DC-4AE1-AF2D-FADF1DDE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496BA-0EA8-4C6D-A4BD-EE1418F3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Limites et perspectives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EE607-0085-44AB-ACAB-AC3F666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31CDA-6539-4BAC-AE39-7EA68F3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Perturbations aléatoires, pas d'attaques optimisées.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12A05-561D-4DED-977C-6EB7A95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EECA7-C10C-4F05-BEB0-E7FE8829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Benchmark contrôlé: Cora, GCN à deux couches, hyperparamètres fixes.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6E0EC-BC34-4B63-AD52-E8325BA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3BBD9-462D-4184-B1DA-74904E39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Les temps CPU dépendent du matériel.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C9608-9666-4592-8F1F-E966E24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402EB-AB9C-4610-82B7-B22AFCF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B"/>
                </a:solidFill>
              </a:defRPr>
            </a:pPr>
            <a:r>
              <a:rPr sz="1275" b="0">
                <a:solidFill>
                  <a:srgbClr val="F5F7FB"/>
                </a:solidFill>
              </a:rPr>
              <a:t>Suite: autres architectures, attaques réelles, datasets plus variés.</a:t>
            </a:r>
          </a:p>
        </p:txBody>
      </p:sp>
    </p:spTree>
    <p:extLst>
      <p:ext uri="{BB962C8B-B14F-4D97-AF65-F5344CB8AC3E}">
        <p14:creationId xmlns:p14="http://schemas.microsoft.com/office/powerpoint/2010/main" val="1898441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76AC13-BB95-4A89-A00F-E97464AB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E1BA-3425-4675-854F-4406948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0A3"/>
                </a:solidFill>
              </a:defRPr>
            </a:pPr>
            <a:r>
              <a:rPr sz="825" b="1">
                <a:solidFill>
                  <a:srgbClr val="16A0A3"/>
                </a:solidFill>
              </a:rPr>
              <a:t>Projet 13 / Option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FB715-232E-417F-8145-64D00A00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Conclusion + démonstration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F1429-884A-4411-9732-B8D11A25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0A3"/>
                </a:solidFill>
              </a:defRPr>
            </a:pPr>
            <a:r>
              <a:rPr sz="1650" b="1">
                <a:solidFill>
                  <a:srgbClr val="16A0A3"/>
                </a:solidFill>
              </a:rPr>
              <a:t>Conclusion prudente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F8448-22AD-49EB-823E-574C5631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A94C3-A853-4017-84A4-605A0EAA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Les optimiseurs adaptatifs sont les plus stables dans ce protocole.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65405-7A20-49D9-A799-91F8BCF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73973-1564-4A48-A6EF-FD8A9E3F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Adam et RMSProp doivent être comparés avec les intervalles.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B776F-E98D-4809-8706-DA7FABC9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3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D82B9-A107-43B7-9FE7-FEA022DF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Le dashboard donne accès aux résultats bruts et aux artefacts.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dbff1834e44bd"/>
          <a:stretch xmlns:a="http://schemas.openxmlformats.org/drawingml/2006/main"/>
        </p:blipFill>
        <p:spPr>
          <a:xfrm xmlns:a="http://schemas.openxmlformats.org/drawingml/2006/main">
            <a:off x="6286500" y="18097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7798B-DC9A-4990-9FBD-86254C3F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EB8C8"/>
                </a:solidFill>
              </a:defRPr>
            </a:pPr>
            <a:r>
              <a:rPr sz="900" b="1">
                <a:solidFill>
                  <a:srgbClr val="AEB8C8"/>
                </a:solidFill>
              </a:rPr>
              <a:t>Tableau de bord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841c490a944d6"/>
          <a:stretch xmlns:a="http://schemas.openxmlformats.org/drawingml/2006/main"/>
        </p:blipFill>
        <p:spPr>
          <a:xfrm xmlns:a="http://schemas.openxmlformats.org/drawingml/2006/main">
            <a:off x="7620000" y="18097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7488F-673B-4BB1-A2CB-EDFF5B84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EB8C8"/>
                </a:solidFill>
              </a:defRPr>
            </a:pPr>
            <a:r>
              <a:rPr sz="900" b="1">
                <a:solidFill>
                  <a:srgbClr val="AEB8C8"/>
                </a:solidFill>
              </a:rPr>
              <a:t>GitHub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3EE25-6C3E-4181-A0FD-0FBC00ED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8C8"/>
                </a:solidFill>
              </a:defRPr>
            </a:pPr>
            <a:r>
              <a:rPr sz="1050" b="0">
                <a:solidFill>
                  <a:srgbClr val="AEB8C8"/>
                </a:solidFill>
              </a:rPr>
              <a:t>Les comparaisons statistiques restent prudentes et doivent être lues avec les IC95.</a:t>
            </a:r>
          </a:p>
        </p:txBody>
      </p:sp>
    </p:spTree>
    <p:extLst>
      <p:ext uri="{BB962C8B-B14F-4D97-AF65-F5344CB8AC3E}">
        <p14:creationId xmlns:p14="http://schemas.microsoft.com/office/powerpoint/2010/main" val="110107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2026-07-06T13:04:04.5880000Z</dcterms:created>
  <dcterms:modified xsi:type="dcterms:W3CDTF">2026-07-06T13:04:04.5890000Z</dcterms:modified>
</coreProperties>
</file>