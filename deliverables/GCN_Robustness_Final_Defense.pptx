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9190914c2e47e2" /><Relationship Type="http://schemas.openxmlformats.org/officeDocument/2006/relationships/extended-properties" Target="/docProps/app.xml" Id="Rbc6311df3a3a4c40" /><Relationship Type="http://schemas.openxmlformats.org/officeDocument/2006/relationships/officeDocument" Target="/ppt/presentation.xml" Id="Raa49958fe1a74f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51d48e47094e91"/>
  </p:sldMasterIdLst>
  <p:notesMasterIdLst>
    <p:notesMasterId xmlns:r="http://schemas.openxmlformats.org/officeDocument/2006/relationships" r:id="Ra6d4ae5e5fdd4595"/>
  </p:notesMasterIdLst>
  <p:sldIdLst>
    <p:sldId xmlns:r="http://schemas.openxmlformats.org/officeDocument/2006/relationships" id="256" r:id="R52ac24ebcfc641ac"/>
    <p:sldId xmlns:r="http://schemas.openxmlformats.org/officeDocument/2006/relationships" id="257" r:id="R2f814a7394f54603"/>
    <p:sldId xmlns:r="http://schemas.openxmlformats.org/officeDocument/2006/relationships" id="258" r:id="Rac2fd5839cef41b6"/>
    <p:sldId xmlns:r="http://schemas.openxmlformats.org/officeDocument/2006/relationships" id="259" r:id="R7f6a96e8f1b34f17"/>
    <p:sldId xmlns:r="http://schemas.openxmlformats.org/officeDocument/2006/relationships" id="260" r:id="R92c76480ae2c401e"/>
    <p:sldId xmlns:r="http://schemas.openxmlformats.org/officeDocument/2006/relationships" id="261" r:id="R11ff185264df40c1"/>
    <p:sldId xmlns:r="http://schemas.openxmlformats.org/officeDocument/2006/relationships" id="262" r:id="R1edd5b7e92ae4bf5"/>
    <p:sldId xmlns:r="http://schemas.openxmlformats.org/officeDocument/2006/relationships" id="263" r:id="R389471a93ba34160"/>
    <p:sldId xmlns:r="http://schemas.openxmlformats.org/officeDocument/2006/relationships" id="264" r:id="Rbf06162af332402c"/>
    <p:sldId xmlns:r="http://schemas.openxmlformats.org/officeDocument/2006/relationships" id="265" r:id="R7f4b3feda0e346c1"/>
    <p:sldId xmlns:r="http://schemas.openxmlformats.org/officeDocument/2006/relationships" id="266" r:id="Rb1044aad200044db"/>
    <p:sldId xmlns:r="http://schemas.openxmlformats.org/officeDocument/2006/relationships" id="267" r:id="R2268b1c14b684222"/>
    <p:sldId xmlns:r="http://schemas.openxmlformats.org/officeDocument/2006/relationships" id="268" r:id="R2c68d341ab7a45c3"/>
    <p:sldId xmlns:r="http://schemas.openxmlformats.org/officeDocument/2006/relationships" id="269" r:id="R386306a40fe74d51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06e7c429354417" /><Relationship Type="http://schemas.openxmlformats.org/officeDocument/2006/relationships/slideMaster" Target="/ppt/slideMasters/slideMaster1.xml" Id="Re551d48e47094e91" /><Relationship Type="http://schemas.openxmlformats.org/officeDocument/2006/relationships/notesMaster" Target="/ppt/notesMasters/notesMaster1.xml" Id="Ra6d4ae5e5fdd4595" /><Relationship Type="http://schemas.openxmlformats.org/officeDocument/2006/relationships/presProps" Target="/ppt/presProps.xml" Id="R44f2e082de2b483b" /><Relationship Type="http://schemas.openxmlformats.org/officeDocument/2006/relationships/tableStyles" Target="/ppt/tableStyles.xml" Id="Ra86560018e6e4ef4" /><Relationship Type="http://schemas.openxmlformats.org/officeDocument/2006/relationships/slide" Target="/ppt/slides/slide1.xml" Id="R52ac24ebcfc641ac" /><Relationship Type="http://schemas.openxmlformats.org/officeDocument/2006/relationships/slide" Target="/ppt/slides/slide2.xml" Id="R2f814a7394f54603" /><Relationship Type="http://schemas.openxmlformats.org/officeDocument/2006/relationships/slide" Target="/ppt/slides/slide3.xml" Id="Rac2fd5839cef41b6" /><Relationship Type="http://schemas.openxmlformats.org/officeDocument/2006/relationships/slide" Target="/ppt/slides/slide4.xml" Id="R7f6a96e8f1b34f17" /><Relationship Type="http://schemas.openxmlformats.org/officeDocument/2006/relationships/slide" Target="/ppt/slides/slide5.xml" Id="R92c76480ae2c401e" /><Relationship Type="http://schemas.openxmlformats.org/officeDocument/2006/relationships/slide" Target="/ppt/slides/slide6.xml" Id="R11ff185264df40c1" /><Relationship Type="http://schemas.openxmlformats.org/officeDocument/2006/relationships/slide" Target="/ppt/slides/slide7.xml" Id="R1edd5b7e92ae4bf5" /><Relationship Type="http://schemas.openxmlformats.org/officeDocument/2006/relationships/slide" Target="/ppt/slides/slide8.xml" Id="R389471a93ba34160" /><Relationship Type="http://schemas.openxmlformats.org/officeDocument/2006/relationships/slide" Target="/ppt/slides/slide9.xml" Id="Rbf06162af332402c" /><Relationship Type="http://schemas.openxmlformats.org/officeDocument/2006/relationships/slide" Target="/ppt/slides/slide10.xml" Id="R7f4b3feda0e346c1" /><Relationship Type="http://schemas.openxmlformats.org/officeDocument/2006/relationships/slide" Target="/ppt/slides/slide11.xml" Id="Rb1044aad200044db" /><Relationship Type="http://schemas.openxmlformats.org/officeDocument/2006/relationships/slide" Target="/ppt/slides/slide12.xml" Id="R2268b1c14b684222" /><Relationship Type="http://schemas.openxmlformats.org/officeDocument/2006/relationships/slide" Target="/ppt/slides/slide13.xml" Id="R2c68d341ab7a45c3" /><Relationship Type="http://schemas.openxmlformats.org/officeDocument/2006/relationships/slide" Target="/ppt/slides/slide14.xml" Id="R386306a40fe74d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c4dfa6ed9045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e2f64241d249ea" /><Relationship Type="http://schemas.openxmlformats.org/officeDocument/2006/relationships/notesMaster" Target="/ppt/notesMasters/notesMaster1.xml" Id="R1ae64250b1ed49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e2bfddb79d4ecf" /><Relationship Type="http://schemas.openxmlformats.org/officeDocument/2006/relationships/notesMaster" Target="/ppt/notesMasters/notesMaster1.xml" Id="Rc920c926c63141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30b373cc744958" /><Relationship Type="http://schemas.openxmlformats.org/officeDocument/2006/relationships/notesMaster" Target="/ppt/notesMasters/notesMaster1.xml" Id="Rf43a3c57676e43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63521af6e742c1" /><Relationship Type="http://schemas.openxmlformats.org/officeDocument/2006/relationships/notesMaster" Target="/ppt/notesMasters/notesMaster1.xml" Id="Rc0bf830c703343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de518c900c4c73" /><Relationship Type="http://schemas.openxmlformats.org/officeDocument/2006/relationships/notesMaster" Target="/ppt/notesMasters/notesMaster1.xml" Id="R26bcd31c19e14a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122e6168c14cc3" /><Relationship Type="http://schemas.openxmlformats.org/officeDocument/2006/relationships/notesMaster" Target="/ppt/notesMasters/notesMaster1.xml" Id="R7be0a6ecb2f440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01ed990f4f47e0" /><Relationship Type="http://schemas.openxmlformats.org/officeDocument/2006/relationships/notesMaster" Target="/ppt/notesMasters/notesMaster1.xml" Id="R3de70192f27a45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7eb72292f748f0" /><Relationship Type="http://schemas.openxmlformats.org/officeDocument/2006/relationships/notesMaster" Target="/ppt/notesMasters/notesMaster1.xml" Id="Rac7befc7ce7944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ad4b1973a64763" /><Relationship Type="http://schemas.openxmlformats.org/officeDocument/2006/relationships/notesMaster" Target="/ppt/notesMasters/notesMaster1.xml" Id="R965c8dbc21ea40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d3fba8475a49ce" /><Relationship Type="http://schemas.openxmlformats.org/officeDocument/2006/relationships/notesMaster" Target="/ppt/notesMasters/notesMaster1.xml" Id="R1b4fdbd58be6464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20218d92cd242ee" /><Relationship Type="http://schemas.openxmlformats.org/officeDocument/2006/relationships/notesMaster" Target="/ppt/notesMasters/notesMaster1.xml" Id="R3f6bd42b1d1447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0292ef3c114525" /><Relationship Type="http://schemas.openxmlformats.org/officeDocument/2006/relationships/notesMaster" Target="/ppt/notesMasters/notesMaster1.xml" Id="Raf7c352a54154a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33a0201ee84299" /><Relationship Type="http://schemas.openxmlformats.org/officeDocument/2006/relationships/notesMaster" Target="/ppt/notesMasters/notesMaster1.xml" Id="Raaf2b9b1667f4a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98616f85d3548a7" /><Relationship Type="http://schemas.openxmlformats.org/officeDocument/2006/relationships/notesMaster" Target="/ppt/notesMasters/notesMaster1.xml" Id="Re3ac1a12023a4a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aad388374340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a4719b244e498d" /><Relationship Type="http://schemas.openxmlformats.org/officeDocument/2006/relationships/slideLayout" Target="/ppt/slideLayouts/slideLayout1.xml" Id="R146f0d6f22674c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6f0d6f22674c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d2abd62fa48ca" /><Relationship Type="http://schemas.openxmlformats.org/officeDocument/2006/relationships/image" Target="/ppt/media/image.png" Id="Rf53ae91f63664821" /><Relationship Type="http://schemas.openxmlformats.org/officeDocument/2006/relationships/notesSlide" Target="/ppt/notesSlides/notesSlide1.xml" Id="Rb44d8e126ab448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76746e1934874" /><Relationship Type="http://schemas.openxmlformats.org/officeDocument/2006/relationships/notesSlide" Target="/ppt/notesSlides/notesSlide2.xml" Id="Rc1d5523c186b46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6fefbd34b4fa6" /><Relationship Type="http://schemas.openxmlformats.org/officeDocument/2006/relationships/notesSlide" Target="/ppt/notesSlides/notesSlide3.xml" Id="Rb836ba6cb42d4a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1ef4250cd45c3" /><Relationship Type="http://schemas.openxmlformats.org/officeDocument/2006/relationships/notesSlide" Target="/ppt/notesSlides/notesSlide4.xml" Id="R724a8e915a224c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bc83e63434d2b" /><Relationship Type="http://schemas.openxmlformats.org/officeDocument/2006/relationships/notesSlide" Target="/ppt/notesSlides/notesSlide5.xml" Id="Ra65c47c2acc640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f0f9fc67d466d" /><Relationship Type="http://schemas.openxmlformats.org/officeDocument/2006/relationships/notesSlide" Target="/ppt/notesSlides/notesSlide6.xml" Id="R3f7bd0fa42964e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dea8ae6174e80" /><Relationship Type="http://schemas.openxmlformats.org/officeDocument/2006/relationships/notesSlide" Target="/ppt/notesSlides/notesSlide7.xml" Id="R3f86d7d569614d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5eb3ee3b2244b4" /><Relationship Type="http://schemas.openxmlformats.org/officeDocument/2006/relationships/chart" Target="/ppt/slides/charts/chart1.xml" Id="R2c270ddae6d44e51" /><Relationship Type="http://schemas.openxmlformats.org/officeDocument/2006/relationships/notesSlide" Target="/ppt/notesSlides/notesSlide8.xml" Id="R1a6d439f2cdc4a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c61464273466d" /><Relationship Type="http://schemas.openxmlformats.org/officeDocument/2006/relationships/chart" Target="/ppt/slides/charts/chart2.xml" Id="Rd61e245d9c6a4941" /><Relationship Type="http://schemas.openxmlformats.org/officeDocument/2006/relationships/notesSlide" Target="/ppt/notesSlides/notesSlide9.xml" Id="Re9fee2c57e8141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97cb470044823" /><Relationship Type="http://schemas.openxmlformats.org/officeDocument/2006/relationships/chart" Target="/ppt/slides/charts/chart3.xml" Id="Ra4f49aeaae414b88" /><Relationship Type="http://schemas.openxmlformats.org/officeDocument/2006/relationships/notesSlide" Target="/ppt/notesSlides/notesSlide10.xml" Id="Rc36aeea6e5c64a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2bc6afa1b4806" /><Relationship Type="http://schemas.openxmlformats.org/officeDocument/2006/relationships/chart" Target="/ppt/slides/charts/chart4.xml" Id="R6ea2ea4aa2144562" /><Relationship Type="http://schemas.openxmlformats.org/officeDocument/2006/relationships/chart" Target="/ppt/slides/charts/chart5.xml" Id="R4f18333204c64d34" /><Relationship Type="http://schemas.openxmlformats.org/officeDocument/2006/relationships/notesSlide" Target="/ppt/notesSlides/notesSlide11.xml" Id="R1483ac6717ef472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fc4ed2ca054dc6" /><Relationship Type="http://schemas.openxmlformats.org/officeDocument/2006/relationships/notesSlide" Target="/ppt/notesSlides/notesSlide12.xml" Id="R7c0360201b7c49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d7d8ba9654b6e" /><Relationship Type="http://schemas.openxmlformats.org/officeDocument/2006/relationships/notesSlide" Target="/ppt/notesSlides/notesSlide13.xml" Id="R78794235e4ae468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acf3ea2b394a0d" /><Relationship Type="http://schemas.openxmlformats.org/officeDocument/2006/relationships/image" Target="/ppt/media/image2.png" Id="Rd5532243cfea43cb" /><Relationship Type="http://schemas.openxmlformats.org/officeDocument/2006/relationships/image" Target="/ppt/media/image3.png" Id="R6e25ebbec3a44c33" /><Relationship Type="http://schemas.openxmlformats.org/officeDocument/2006/relationships/notesSlide" Target="/ppt/notesSlides/notesSlide14.xml" Id="R88074b758c774224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F5F7FB"/>
                </a:solidFill>
              </a:rPr>
              <a:t>Accuracy moyenne sur Cora propre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F5F7FB"/>
              </a:solidFill>
            </a:defRPr>
          </a:pPr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D1394A"/>
            </a:solidFill>
          </c:spPr>
          <c:dPt>
            <c:idx val="0"/>
            <c:spPr>
              <a:solidFill xmlns:a="http://schemas.openxmlformats.org/drawingml/2006/main">
                <a:srgbClr val="D1394A"/>
              </a:solidFill>
            </c:spPr>
          </c:dPt>
          <c:dPt>
            <c:idx val="1"/>
            <c:spPr>
              <a:solidFill xmlns:a="http://schemas.openxmlformats.org/drawingml/2006/main">
                <a:srgbClr val="7C8ED8"/>
              </a:solidFill>
            </c:spPr>
          </c:dPt>
          <c:dPt>
            <c:idx val="2"/>
            <c:spPr>
              <a:solidFill xmlns:a="http://schemas.openxmlformats.org/drawingml/2006/main">
                <a:srgbClr val="16A0A3"/>
              </a:solidFill>
            </c:spPr>
          </c:dPt>
          <c:dPt>
            <c:idx val="3"/>
            <c:spPr>
              <a:solidFill xmlns:a="http://schemas.openxmlformats.org/drawingml/2006/main">
                <a:srgbClr val="D59A35"/>
              </a:solidFill>
            </c:spPr>
          </c:dPt>
          <c:dPt>
            <c:idx val="4"/>
            <c:spPr>
              <a:solidFill xmlns:a="http://schemas.openxmlformats.org/drawingml/2006/main">
                <a:srgbClr val="9AA3B2"/>
              </a:solidFill>
            </c:spPr>
          </c:dPt>
          <c:dLbls/>
          <c:cat>
            <c:strLit>
              <c:ptCount val="5"/>
              <c:pt idx="0">
                <c:v>Adam</c:v>
              </c:pt>
              <c:pt idx="1">
                <c:v>RMSProp</c:v>
              </c:pt>
              <c:pt idx="2">
                <c:v>AdamW</c:v>
              </c:pt>
              <c:pt idx="3">
                <c:v>AdaGrad</c:v>
              </c:pt>
              <c:pt idx="4">
                <c:v>SGD</c:v>
              </c:pt>
            </c:strLit>
          </c:cat>
          <c:val>
            <c:numLit>
              <c:formatCode>0%</c:formatCode>
              <c:ptCount val="5"/>
              <c:pt idx="0">
                <c:v>0.811733</c:v>
              </c:pt>
              <c:pt idx="1">
                <c:v>0.8078670000000001</c:v>
              </c:pt>
              <c:pt idx="2">
                <c:v>0.7874</c:v>
              </c:pt>
              <c:pt idx="3">
                <c:v>0.7724</c:v>
              </c:pt>
              <c:pt idx="4">
                <c:v>0.149467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71E2B"/>
        </a:solidFill>
      </c:spPr>
    </c:plotArea>
    <c:plotVisOnly val="1"/>
  </c:chart>
  <c:spPr>
    <a:solidFill xmlns:a="http://schemas.openxmlformats.org/drawingml/2006/main">
      <a:srgbClr val="171E2B"/>
    </a:solidFill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F5F7FB"/>
                </a:solidFill>
              </a:rPr>
              <a:t>Moyenne sur propre + perturbations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F5F7FB"/>
              </a:solidFill>
            </a:defRPr>
          </a:pPr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D1394A"/>
            </a:solidFill>
          </c:spPr>
          <c:dPt>
            <c:idx val="0"/>
            <c:spPr>
              <a:solidFill xmlns:a="http://schemas.openxmlformats.org/drawingml/2006/main">
                <a:srgbClr val="D1394A"/>
              </a:solidFill>
            </c:spPr>
          </c:dPt>
          <c:dPt>
            <c:idx val="1"/>
            <c:spPr>
              <a:solidFill xmlns:a="http://schemas.openxmlformats.org/drawingml/2006/main">
                <a:srgbClr val="7C8ED8"/>
              </a:solidFill>
            </c:spPr>
          </c:dPt>
          <c:dPt>
            <c:idx val="2"/>
            <c:spPr>
              <a:solidFill xmlns:a="http://schemas.openxmlformats.org/drawingml/2006/main">
                <a:srgbClr val="16A0A3"/>
              </a:solidFill>
            </c:spPr>
          </c:dPt>
          <c:dPt>
            <c:idx val="3"/>
            <c:spPr>
              <a:solidFill xmlns:a="http://schemas.openxmlformats.org/drawingml/2006/main">
                <a:srgbClr val="D59A35"/>
              </a:solidFill>
            </c:spPr>
          </c:dPt>
          <c:dPt>
            <c:idx val="4"/>
            <c:spPr>
              <a:solidFill xmlns:a="http://schemas.openxmlformats.org/drawingml/2006/main">
                <a:srgbClr val="9AA3B2"/>
              </a:solidFill>
            </c:spPr>
          </c:dPt>
          <c:dLbls/>
          <c:cat>
            <c:strLit>
              <c:ptCount val="5"/>
              <c:pt idx="0">
                <c:v>Adam</c:v>
              </c:pt>
              <c:pt idx="1">
                <c:v>RMSProp</c:v>
              </c:pt>
              <c:pt idx="2">
                <c:v>AdamW</c:v>
              </c:pt>
              <c:pt idx="3">
                <c:v>AdaGrad</c:v>
              </c:pt>
              <c:pt idx="4">
                <c:v>SGD</c:v>
              </c:pt>
            </c:strLit>
          </c:cat>
          <c:val>
            <c:numLit>
              <c:formatCode>0%</c:formatCode>
              <c:ptCount val="5"/>
              <c:pt idx="0">
                <c:v>0.7941228749999999</c:v>
              </c:pt>
              <c:pt idx="1">
                <c:v>0.7917293125</c:v>
              </c:pt>
              <c:pt idx="2">
                <c:v>0.7679645625</c:v>
              </c:pt>
              <c:pt idx="3">
                <c:v>0.7516083125</c:v>
              </c:pt>
              <c:pt idx="4">
                <c:v>0.14171675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71E2B"/>
        </a:solidFill>
      </c:spPr>
    </c:plotArea>
    <c:plotVisOnly val="1"/>
  </c:chart>
  <c:spPr>
    <a:solidFill xmlns:a="http://schemas.openxmlformats.org/drawingml/2006/main">
      <a:srgbClr val="171E2B"/>
    </a:solidFill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F5F7FB"/>
                </a:solidFill>
              </a:rPr>
              <a:t>Accuracy moyenne par taux de masquage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F5F7FB"/>
              </a:solidFill>
            </a:defRPr>
          </a:pPr>
        </a:p>
      </c:txPr>
    </c:title>
    <c:autoTitleDeleted val="0"/>
    <c:plotArea>
      <c:lineChart>
        <c:grouping val="standard"/>
        <c:ser>
          <c:idx val="0"/>
          <c:order val="0"/>
          <c:tx>
            <c:v>Adam</c:v>
          </c:tx>
          <c:spPr>
            <a:ln xmlns:a="http://schemas.openxmlformats.org/drawingml/2006/main" w="19050">
              <a:solidFill>
                <a:srgbClr val="D1394A"/>
              </a:solidFill>
            </a:ln>
          </c:spPr>
          <c:marker>
            <c:symbol val="circle"/>
            <c:size val="5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0.8039</c:v>
              </c:pt>
              <c:pt idx="1">
                <c:v>0.7998</c:v>
              </c:pt>
              <c:pt idx="2">
                <c:v>0.794267</c:v>
              </c:pt>
              <c:pt idx="3">
                <c:v>0.784</c:v>
              </c:pt>
            </c:numLit>
          </c:val>
          <c:smooth val="0"/>
        </c:ser>
        <c:ser>
          <c:idx val="1"/>
          <c:order val="1"/>
          <c:tx>
            <c:v>AdamW</c:v>
          </c:tx>
          <c:spPr>
            <a:ln xmlns:a="http://schemas.openxmlformats.org/drawingml/2006/main" w="19050">
              <a:solidFill>
                <a:srgbClr val="16A0A3"/>
              </a:solidFill>
            </a:ln>
          </c:spPr>
          <c:marker>
            <c:symbol val="circle"/>
            <c:size val="5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0.7808</c:v>
              </c:pt>
              <c:pt idx="1">
                <c:v>0.7763</c:v>
              </c:pt>
              <c:pt idx="2">
                <c:v>0.774133</c:v>
              </c:pt>
              <c:pt idx="3">
                <c:v>0.7652</c:v>
              </c:pt>
            </c:numLit>
          </c:val>
          <c:smooth val="0"/>
        </c:ser>
        <c:ser>
          <c:idx val="2"/>
          <c:order val="2"/>
          <c:tx>
            <c:v>RMSProp</c:v>
          </c:tx>
          <c:spPr>
            <a:ln xmlns:a="http://schemas.openxmlformats.org/drawingml/2006/main" w="19050">
              <a:solidFill>
                <a:srgbClr val="7C8ED8"/>
              </a:solidFill>
            </a:ln>
          </c:spPr>
          <c:marker>
            <c:symbol val="circle"/>
            <c:size val="5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0.8004</c:v>
              </c:pt>
              <c:pt idx="1">
                <c:v>0.7968</c:v>
              </c:pt>
              <c:pt idx="2">
                <c:v>0.797267</c:v>
              </c:pt>
              <c:pt idx="3">
                <c:v>0.7875</c:v>
              </c:pt>
            </c:numLit>
          </c:val>
          <c:smooth val="0"/>
        </c:ser>
        <c:ser>
          <c:idx val="3"/>
          <c:order val="3"/>
          <c:tx>
            <c:v>AdaGrad</c:v>
          </c:tx>
          <c:spPr>
            <a:ln xmlns:a="http://schemas.openxmlformats.org/drawingml/2006/main" w="19050">
              <a:solidFill>
                <a:srgbClr val="D59A35"/>
              </a:solidFill>
            </a:ln>
          </c:spPr>
          <c:marker>
            <c:symbol val="circle"/>
            <c:size val="5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0.7756</c:v>
              </c:pt>
              <c:pt idx="1">
                <c:v>0.7616</c:v>
              </c:pt>
              <c:pt idx="2">
                <c:v>0.7438</c:v>
              </c:pt>
              <c:pt idx="3">
                <c:v>0.7303</c:v>
              </c:pt>
            </c:numLit>
          </c:val>
          <c:smooth val="0"/>
        </c:ser>
        <c:ser>
          <c:idx val="4"/>
          <c:order val="4"/>
          <c:tx>
            <c:v>SGD</c:v>
          </c:tx>
          <c:spPr>
            <a:ln xmlns:a="http://schemas.openxmlformats.org/drawingml/2006/main" w="19050">
              <a:solidFill>
                <a:srgbClr val="9AA3B2"/>
              </a:solidFill>
            </a:ln>
          </c:spPr>
          <c:marker>
            <c:symbol val="circle"/>
            <c:size val="5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0.1356</c:v>
              </c:pt>
              <c:pt idx="1">
                <c:v>0.165</c:v>
              </c:pt>
              <c:pt idx="2">
                <c:v>0.1294</c:v>
              </c:pt>
              <c:pt idx="3">
                <c:v>0.1301</c:v>
              </c:pt>
            </c:numLit>
          </c:val>
          <c:smooth val="0"/>
        </c:ser>
        <c:dLbls>
          <c:showVal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71E2B"/>
        </a:solidFill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171E2B"/>
    </a:solidFill>
  </c:spPr>
</c:chartSpace>
</file>

<file path=ppt/slides/charts/chart4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F5F7FB"/>
                </a:solidFill>
              </a:rPr>
              <a:t>Suppression d'arêtes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F5F7FB"/>
              </a:solidFill>
            </a:defRPr>
          </a:pPr>
        </a:p>
      </c:txPr>
    </c:title>
    <c:autoTitleDeleted val="0"/>
    <c:plotArea>
      <c:lineChart>
        <c:grouping val="standard"/>
        <c:ser>
          <c:idx val="0"/>
          <c:order val="0"/>
          <c:tx>
            <c:v>Adam</c:v>
          </c:tx>
          <c:spPr>
            <a:ln xmlns:a="http://schemas.openxmlformats.org/drawingml/2006/main" w="19050">
              <a:solidFill>
                <a:srgbClr val="D1394A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0.8057000000000001</c:v>
              </c:pt>
              <c:pt idx="1">
                <c:v>0.8019000000000001</c:v>
              </c:pt>
              <c:pt idx="2">
                <c:v>0.7858</c:v>
              </c:pt>
              <c:pt idx="3">
                <c:v>0.774</c:v>
              </c:pt>
            </c:numLit>
          </c:val>
          <c:smooth val="0"/>
        </c:ser>
        <c:ser>
          <c:idx val="1"/>
          <c:order val="1"/>
          <c:tx>
            <c:v>AdamW</c:v>
          </c:tx>
          <c:spPr>
            <a:ln xmlns:a="http://schemas.openxmlformats.org/drawingml/2006/main" w="19050">
              <a:solidFill>
                <a:srgbClr val="16A0A3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0.7815</c:v>
              </c:pt>
              <c:pt idx="1">
                <c:v>0.769</c:v>
              </c:pt>
              <c:pt idx="2">
                <c:v>0.759467</c:v>
              </c:pt>
              <c:pt idx="3">
                <c:v>0.7358</c:v>
              </c:pt>
            </c:numLit>
          </c:val>
          <c:smooth val="0"/>
        </c:ser>
        <c:ser>
          <c:idx val="2"/>
          <c:order val="2"/>
          <c:tx>
            <c:v>RMSProp</c:v>
          </c:tx>
          <c:spPr>
            <a:ln xmlns:a="http://schemas.openxmlformats.org/drawingml/2006/main" w="19050">
              <a:solidFill>
                <a:srgbClr val="7C8ED8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0.8016</c:v>
              </c:pt>
              <c:pt idx="1">
                <c:v>0.7936</c:v>
              </c:pt>
              <c:pt idx="2">
                <c:v>0.789067</c:v>
              </c:pt>
              <c:pt idx="3">
                <c:v>0.7767</c:v>
              </c:pt>
            </c:numLit>
          </c:val>
          <c:smooth val="0"/>
        </c:ser>
        <c:ser>
          <c:idx val="3"/>
          <c:order val="3"/>
          <c:tx>
            <c:v>AdaGrad</c:v>
          </c:tx>
          <c:spPr>
            <a:ln xmlns:a="http://schemas.openxmlformats.org/drawingml/2006/main" w="19050">
              <a:solidFill>
                <a:srgbClr val="D59A35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0.7616</c:v>
              </c:pt>
              <c:pt idx="1">
                <c:v>0.7673</c:v>
              </c:pt>
              <c:pt idx="2">
                <c:v>0.741333</c:v>
              </c:pt>
              <c:pt idx="3">
                <c:v>0.7453</c:v>
              </c:pt>
            </c:numLit>
          </c:val>
          <c:smooth val="0"/>
        </c:ser>
        <c:ser>
          <c:idx val="4"/>
          <c:order val="4"/>
          <c:tx>
            <c:v>SGD</c:v>
          </c:tx>
          <c:spPr>
            <a:ln xmlns:a="http://schemas.openxmlformats.org/drawingml/2006/main" w="19050">
              <a:solidFill>
                <a:srgbClr val="9AA3B2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0.1581</c:v>
              </c:pt>
              <c:pt idx="1">
                <c:v>0.1274</c:v>
              </c:pt>
              <c:pt idx="2">
                <c:v>0.14</c:v>
              </c:pt>
              <c:pt idx="3">
                <c:v>0.1643</c:v>
              </c:pt>
            </c:numLit>
          </c:val>
          <c:smooth val="0"/>
        </c:ser>
        <c:dLbls>
          <c:showVal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71E2B"/>
        </a:solidFill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171E2B"/>
    </a:solidFill>
  </c:spPr>
</c:chartSpace>
</file>

<file path=ppt/slides/charts/chart5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F5F7FB"/>
                </a:solidFill>
              </a:rPr>
              <a:t>Ajout de fausses arêtes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F5F7FB"/>
              </a:solidFill>
            </a:defRPr>
          </a:pPr>
        </a:p>
      </c:txPr>
    </c:title>
    <c:autoTitleDeleted val="0"/>
    <c:plotArea>
      <c:lineChart>
        <c:grouping val="standard"/>
        <c:ser>
          <c:idx val="0"/>
          <c:order val="0"/>
          <c:tx>
            <c:v>Adam</c:v>
          </c:tx>
          <c:spPr>
            <a:ln xmlns:a="http://schemas.openxmlformats.org/drawingml/2006/main" w="19050">
              <a:solidFill>
                <a:srgbClr val="D1394A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0.7999</c:v>
              </c:pt>
              <c:pt idx="1">
                <c:v>0.7878</c:v>
              </c:pt>
              <c:pt idx="2">
                <c:v>0.769667</c:v>
              </c:pt>
              <c:pt idx="3">
                <c:v>0.7523</c:v>
              </c:pt>
            </c:numLit>
          </c:val>
          <c:smooth val="0"/>
        </c:ser>
        <c:ser>
          <c:idx val="1"/>
          <c:order val="1"/>
          <c:tx>
            <c:v>AdamW</c:v>
          </c:tx>
          <c:spPr>
            <a:ln xmlns:a="http://schemas.openxmlformats.org/drawingml/2006/main" w="19050">
              <a:solidFill>
                <a:srgbClr val="16A0A3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0.7706</c:v>
              </c:pt>
              <c:pt idx="1">
                <c:v>0.7673</c:v>
              </c:pt>
              <c:pt idx="2">
                <c:v>0.735133</c:v>
              </c:pt>
              <c:pt idx="3">
                <c:v>0.7226</c:v>
              </c:pt>
            </c:numLit>
          </c:val>
          <c:smooth val="0"/>
        </c:ser>
        <c:ser>
          <c:idx val="2"/>
          <c:order val="2"/>
          <c:tx>
            <c:v>RMSProp</c:v>
          </c:tx>
          <c:spPr>
            <a:ln xmlns:a="http://schemas.openxmlformats.org/drawingml/2006/main" w="19050">
              <a:solidFill>
                <a:srgbClr val="7C8ED8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0.7974</c:v>
              </c:pt>
              <c:pt idx="1">
                <c:v>0.7834</c:v>
              </c:pt>
              <c:pt idx="2">
                <c:v>0.767067</c:v>
              </c:pt>
              <c:pt idx="3">
                <c:v>0.7454</c:v>
              </c:pt>
            </c:numLit>
          </c:val>
          <c:smooth val="0"/>
        </c:ser>
        <c:ser>
          <c:idx val="3"/>
          <c:order val="3"/>
          <c:tx>
            <c:v>AdaGrad</c:v>
          </c:tx>
          <c:spPr>
            <a:ln xmlns:a="http://schemas.openxmlformats.org/drawingml/2006/main" w="19050">
              <a:solidFill>
                <a:srgbClr val="D59A35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0.7554</c:v>
              </c:pt>
              <c:pt idx="1">
                <c:v>0.7505</c:v>
              </c:pt>
              <c:pt idx="2">
                <c:v>0.7166</c:v>
              </c:pt>
              <c:pt idx="3">
                <c:v>0.6868</c:v>
              </c:pt>
            </c:numLit>
          </c:val>
          <c:smooth val="0"/>
        </c:ser>
        <c:ser>
          <c:idx val="4"/>
          <c:order val="4"/>
          <c:tx>
            <c:v>SGD</c:v>
          </c:tx>
          <c:spPr>
            <a:ln xmlns:a="http://schemas.openxmlformats.org/drawingml/2006/main" w="19050">
              <a:solidFill>
                <a:srgbClr val="9AA3B2"/>
              </a:solidFill>
            </a:ln>
          </c:spPr>
          <c:marker>
            <c:symbol val="none"/>
          </c:marker>
          <c:dLbls/>
          <c:cat>
            <c:strLit>
              <c:ptCount val="4"/>
              <c:pt idx="0">
                <c:v>5%</c:v>
              </c:pt>
              <c:pt idx="1">
                <c:v>10%</c:v>
              </c:pt>
              <c:pt idx="2">
                <c:v>20%</c:v>
              </c:pt>
              <c:pt idx="3">
                <c:v>30%</c:v>
              </c:pt>
            </c:strLit>
          </c:cat>
          <c:val>
            <c:numLit>
              <c:formatCode>0%</c:formatCode>
              <c:ptCount val="4"/>
              <c:pt idx="0">
                <c:v>0.1236</c:v>
              </c:pt>
              <c:pt idx="1">
                <c:v>0.1413</c:v>
              </c:pt>
              <c:pt idx="2">
                <c:v>0.1326</c:v>
              </c:pt>
              <c:pt idx="3">
                <c:v>0.1222</c:v>
              </c:pt>
            </c:numLit>
          </c:val>
          <c:smooth val="0"/>
        </c:ser>
        <c:dLbls>
          <c:showVal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71E2B"/>
        </a:solidFill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171E2B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B8DA55-5A77-424D-8F2E-1A471613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8EB28-1448-4008-BC3D-536BD124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E662A-1F7B-49C8-BF18-05524472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7048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5F7FB"/>
                </a:solidFill>
              </a:defRPr>
            </a:pPr>
            <a:r>
              <a:rPr sz="3000" b="1">
                <a:solidFill>
                  <a:srgbClr val="F5F7FB"/>
                </a:solidFill>
              </a:rPr>
              <a:t>Robustesse des GNN sous perturbations aléatoires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C50E7-22E6-4348-9F91-CD941AD1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85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8"/>
                </a:solidFill>
              </a:defRPr>
            </a:pPr>
            <a:r>
              <a:rPr sz="1350" b="0">
                <a:solidFill>
                  <a:srgbClr val="AEB8C8"/>
                </a:solidFill>
              </a:rPr>
              <a:t>Adam vs AdamW vs RMSProp vs AdaGrad vs SGD sur Cora Citation Network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2BFD8-BBFD-4C68-B39A-A4ABC274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9527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C5DB0-146C-4714-A660-BD640111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86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Runs principaux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A6B1C-973D-4010-941E-9951EB69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650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0F8B8-9FF7-4AE9-9454-B8BACF58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527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452E2-11BF-46EB-9012-11C63E13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86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Graines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D8353D-2A51-46CC-B5C3-FAAA5CA9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3337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5FEA3-025D-4017-B9F7-E0693C5A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527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1457DC-1FF4-4FBD-B580-5E2C70B2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Époques/run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57475-C77B-4EE9-BB8B-0512C25C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200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ae91f63664821"/>
          <a:stretch xmlns:a="http://schemas.openxmlformats.org/drawingml/2006/main"/>
        </p:blipFill>
        <p:spPr>
          <a:xfrm xmlns:a="http://schemas.openxmlformats.org/drawingml/2006/main">
            <a:off x="7391400" y="2857500"/>
            <a:ext cx="1104900" cy="11049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C0534E-503F-4E43-9433-2AF935BB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01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EB8C8"/>
                </a:solidFill>
              </a:defRPr>
            </a:pPr>
            <a:r>
              <a:rPr sz="900" b="1">
                <a:solidFill>
                  <a:srgbClr val="AEB8C8"/>
                </a:solidFill>
              </a:rPr>
              <a:t>Tableau de bord</a:t>
            </a:r>
          </a:p>
        </p:txBody>
      </p:sp>
    </p:spTree>
    <p:extLst>
      <p:ext uri="{BB962C8B-B14F-4D97-AF65-F5344CB8AC3E}">
        <p14:creationId xmlns:p14="http://schemas.microsoft.com/office/powerpoint/2010/main" val="13546952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F3D9CA-F47D-42CB-A4CB-9D3E9294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D2DF4-7B40-487C-A551-47F65A8C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EDA87-0FE9-4A9B-A795-D52C924F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Contexte et question de recherche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5F221-3982-4804-AAC7-869EC4C0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95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BD703-5739-4284-94A3-4A8CF970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Les GNN dépendent fortement de la structure du graphe.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B0BA9B-AB8F-47BA-81D9-6DBC59F1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52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5C021-1917-4ED4-A797-E82FF430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Cora peut perdre des attributs actifs, des arêtes, ou recevoir de fausses arêtes.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A0AE6-71CC-40DD-92D2-BA7A3C4E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2DFE9-0486-43A2-B275-FF499D1E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Question: quel optimiseur reste le plus stable sous un protocole fixe?</a:t>
            </a:r>
          </a:p>
        </p:txBody>
      </p:sp>
    </p:spTree>
    <p:extLst>
      <p:ext uri="{BB962C8B-B14F-4D97-AF65-F5344CB8AC3E}">
        <p14:creationId xmlns:p14="http://schemas.microsoft.com/office/powerpoint/2010/main" val="16308913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D4A24C-3F57-4B22-B00F-07E6E9CD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A2EB3-1697-4DF7-AFE9-74B57E78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352D1A-55E4-4CDA-BF75-E1FD6668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Cora et architecture GCN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28607-650B-42EC-87EC-95CF00E4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B335A5-803A-475B-BC48-DEBFEA4E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Noeuds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01823-59BC-4954-BBFF-C34F8609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2708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CC21C1-278A-4672-8CBC-9070F30D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097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F954B-9E2F-4102-9407-DFA9B8AC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943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Attributs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526ADD-5F6D-41A7-9D7F-C507803E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1907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1433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07687-A9E2-499E-88C2-5AF741A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8097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052AC3-3DCF-474F-9E29-B1044C39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943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Classes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5C993C-0406-4DFA-8F05-D1DF855D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907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0BFE8-0ED3-454C-8DB0-CBD217D1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28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55FAD-F43E-4DAE-9BD9-098B9BD1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7391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GCN à deux couches, 16 canaux cachés, ReLU et dropout 0.5.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BC64E-DB82-4CD8-9367-8F162A00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86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22FE79-7835-4141-8374-90C4F4CE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7391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Perte cross-entropy sur le masque d'entraînement.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591C22-AA16-4F61-9722-DB72F27B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198BD9-EDE8-41AB-BF88-41469A31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7391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Même split et même architecture pour tous les optimiseurs.</a:t>
            </a:r>
          </a:p>
        </p:txBody>
      </p:sp>
    </p:spTree>
    <p:extLst>
      <p:ext uri="{BB962C8B-B14F-4D97-AF65-F5344CB8AC3E}">
        <p14:creationId xmlns:p14="http://schemas.microsoft.com/office/powerpoint/2010/main" val="11769402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17429E-8188-470F-94CB-8C5B3C5B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784AF-3D7F-4C72-8352-2590F199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3C55C9-41B7-45D9-A0C0-E7BE54ED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Optimiseurs comparés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6B4B1A-0298-429B-90F6-33B46414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95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F2A69-65FE-481A-B978-3D59FDA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Adam et AdamW: méthodes adaptatives très utilisées en deep learning.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FFC71-0756-406D-866E-A3BF61FC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52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CA316-7521-4951-AC69-7238609A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RMSProp et AdaGrad: adaptation du pas par historique de gradients.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BA035-F9CE-45F3-BF5B-1B75F677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1EF86E-15DB-4F29-BD1B-2A605D6D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SGD: référence non adaptative, interprétée uniquement dans ce protocole.</a:t>
            </a:r>
          </a:p>
        </p:txBody>
      </p:sp>
    </p:spTree>
    <p:extLst>
      <p:ext uri="{BB962C8B-B14F-4D97-AF65-F5344CB8AC3E}">
        <p14:creationId xmlns:p14="http://schemas.microsoft.com/office/powerpoint/2010/main" val="3892800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32E57C-DB51-4CB6-9129-45514F52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784B0-EDA0-439B-BD03-FFF3E3AE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A36E1-4D5F-4991-AE23-FEE24F7D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Protocole expérimental final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7EA19B-A045-4D39-A0B4-C613E689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E42DD-05E0-421B-8ED4-26E1529A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Optimiseurs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FDD6FC-C05C-46E5-89F8-EEC920A5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D436D4-1E85-463D-A400-6537BFEB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907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047A39-E836-4997-AC22-82D0E8FD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9240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Conditions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7517D-D097-4C4E-AAB5-CFC66490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1717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26149-9911-4533-BF24-EDF91AA8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907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64585-5F34-42CD-B63D-1B1E8739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9240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Graines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EFD2B0-9CE9-4B55-8E0A-717A276B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717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5B1DDE-D106-4E44-9513-19C8E466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4DB9F3-3E5C-4265-9EDF-403FD156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240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Runs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53BAC2-82BE-46E2-8EE2-32A9B620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1717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650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B5797-6FBA-428B-A40E-733DE543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76B7D4-8EDA-42FD-93F2-6E4E5E97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Budget fixe: 200 époques par entraînement.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020A04-C137-4BC1-9BB3-899310BB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C1E8C-8475-4104-8C7C-FEA6A82F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Les métriques sont moyennées avec écart-type et IC95.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A6746-4DF4-48DC-B9E1-51E0EAF9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C2D96-2CAC-4440-9446-2A58AD05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Le test n'est jamais utilisé pour choisir les hyperparamètres.</a:t>
            </a:r>
          </a:p>
        </p:txBody>
      </p:sp>
    </p:spTree>
    <p:extLst>
      <p:ext uri="{BB962C8B-B14F-4D97-AF65-F5344CB8AC3E}">
        <p14:creationId xmlns:p14="http://schemas.microsoft.com/office/powerpoint/2010/main" val="4070977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37B37F-C451-4F31-AA68-0B288045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944D-A0AF-4579-9C1D-F5D876B5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8050F-6BBD-4180-9A11-1745FF9B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Perturbations aléatoires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52DD9-6E05-43C4-8072-3A54157D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1586-11CF-4BD6-82F9-797737BF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Feature masking: mise à zéro d'une proportion d'entrées actives.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2D87F-D787-467A-B41D-2C30BE2C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22C9A-5A0E-40AB-ADE1-B5FD7C40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Edge removal: suppression de connexions non orientées uniques.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E35CA9-695C-45D3-B939-81E7E95E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EF1BB-80E8-4578-8A28-9520CF2E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098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Fake edge addition: ajout de paires non connectées, sans self-loop ni duplicat.</a:t>
            </a:r>
          </a:p>
        </p:txBody>
      </p:sp>
    </p:spTree>
    <p:extLst>
      <p:ext uri="{BB962C8B-B14F-4D97-AF65-F5344CB8AC3E}">
        <p14:creationId xmlns:p14="http://schemas.microsoft.com/office/powerpoint/2010/main" val="14071013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3446A0-FAB6-481E-B1F8-793EECE6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05736-784E-4C7E-B5C2-28C23943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4BD3C-2317-41C1-BD56-9885E71C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Garanties scientifiques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F11AA-D4E9-4D40-B5BA-8347C2C6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D9829-7F65-47E1-BB66-09900B21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Graines appariées pour comparer les optimiseurs.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91D79-97AE-46D7-8AD6-894C4C89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62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311805-6774-4789-BD06-FFE568A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IC95 et bootstrap apparié pour les différences clés.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322D54-D488-40F0-AC6E-BB9C4B8C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19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DAE16C-5630-4F5E-90DC-B9C94908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Test de Wilcoxon et correction de Holm quand les données le permettent.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0F21B7-B720-4112-ADF3-3974F62B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76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5B692F-4D61-4625-B88F-92A3F908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Conclusion limitée au dataset, au GCN et au protocole étudiés.</a:t>
            </a:r>
          </a:p>
        </p:txBody>
      </p:sp>
    </p:spTree>
    <p:extLst>
      <p:ext uri="{BB962C8B-B14F-4D97-AF65-F5344CB8AC3E}">
        <p14:creationId xmlns:p14="http://schemas.microsoft.com/office/powerpoint/2010/main" val="7762157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E1151C-FA19-454E-88CF-1E07E971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40D270-D466-4A59-9921-9E17014D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A71F1-2DC8-44E8-9A1E-54F2F749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Performances sur graphe propre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590550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270ddae6d44e5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552E2-DCCD-4B43-8886-2FAAE268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7FB"/>
                </a:solidFill>
              </a:defRPr>
            </a:pPr>
            <a:r>
              <a:rPr sz="1650" b="1">
                <a:solidFill>
                  <a:srgbClr val="F5F7FB"/>
                </a:solidFill>
              </a:rPr>
              <a:t>Meilleur score propre: Adam (81.2%)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C6466-BBD8-4F6B-AF5F-18E77192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</a:defRPr>
            </a:pPr>
            <a:r>
              <a:rPr sz="1125" b="0">
                <a:solidFill>
                  <a:srgbClr val="AEB8C8"/>
                </a:solidFill>
              </a:rPr>
              <a:t>Les barres doivent être lues avec les intervalles du rapport.</a:t>
            </a:r>
          </a:p>
        </p:txBody>
      </p:sp>
    </p:spTree>
    <p:extLst>
      <p:ext uri="{BB962C8B-B14F-4D97-AF65-F5344CB8AC3E}">
        <p14:creationId xmlns:p14="http://schemas.microsoft.com/office/powerpoint/2010/main" val="1929489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3806B3-EB66-4D2F-A567-A95E295C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17D70-59D9-4FE3-9D28-8C52F3AD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45F85-AF57-4ED8-A727-75F95DA0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Robustesse agrégée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6096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1e245d9c6a494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BCAA8-2E8F-4D5E-8845-3370A93D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95500"/>
            <a:ext cx="16954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EB8C8"/>
                </a:solidFill>
              </a:defRPr>
            </a:pPr>
            <a:r>
              <a:rPr sz="1200" b="0">
                <a:solidFill>
                  <a:srgbClr val="AEB8C8"/>
                </a:solidFill>
              </a:rPr>
              <a:t>Adam et RMSProp restent proches: les petites différences ne sont pas appelées dominance.</a:t>
            </a:r>
          </a:p>
        </p:txBody>
      </p:sp>
    </p:spTree>
    <p:extLst>
      <p:ext uri="{BB962C8B-B14F-4D97-AF65-F5344CB8AC3E}">
        <p14:creationId xmlns:p14="http://schemas.microsoft.com/office/powerpoint/2010/main" val="9228984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556BF2-8594-4F8B-A3A2-A1451CBC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A39C7-4428-4B95-97F4-2F3F9278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BCB80-2AA4-468E-BE8F-1C8BCDFB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Robustesse au feature masking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685800" y="1543050"/>
          <a:ext xmlns:a="http://schemas.openxmlformats.org/drawingml/2006/main" cx="7239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f49aeaae414b88"/>
          </a:graphicData>
        </a:graphic>
      </p:graphicFrame>
    </p:spTree>
    <p:extLst>
      <p:ext uri="{BB962C8B-B14F-4D97-AF65-F5344CB8AC3E}">
        <p14:creationId xmlns:p14="http://schemas.microsoft.com/office/powerpoint/2010/main" val="1412368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FAAA0A-1E0E-4E56-9D69-2FDA6A93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F9583-6C11-4325-A9AA-5F6F062D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4DD1B-D929-4593-9109-9A68A828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Robustesse structurelle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533400" y="1428750"/>
          <a:ext xmlns:a="http://schemas.openxmlformats.org/drawingml/2006/main" cx="3905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a2ea4aa2144562"/>
          </a:graphicData>
        </a:graphic>
      </p:graphicFrame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4762500" y="1428750"/>
          <a:ext xmlns:a="http://schemas.openxmlformats.org/drawingml/2006/main" cx="3905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18333204c64d34"/>
          </a:graphicData>
        </a:graphic>
      </p:graphicFrame>
    </p:spTree>
    <p:extLst>
      <p:ext uri="{BB962C8B-B14F-4D97-AF65-F5344CB8AC3E}">
        <p14:creationId xmlns:p14="http://schemas.microsoft.com/office/powerpoint/2010/main" val="10479784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76B80D-860B-4F1E-8BC6-C058437C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8018E5-5F1B-45FF-AD65-FB161404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41627-5FB6-4383-9ECC-38F04B72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Validation complémentaire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AA0EF-27AF-43C7-8308-88E9D9DA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2095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28DA0D-FC96-4429-8CDB-E2F9E71F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Cross-dataset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8F123-252D-4A4D-810C-9C1B8107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300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EAD22-295B-4D2C-9722-8E32D34D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14500"/>
            <a:ext cx="2095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0EF612-E6B3-46F5-A5D2-0EF3D5CA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8478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Protocole tuné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7DC0C-3F0F-45DE-A016-1C0FC2DB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955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0DD41D-BE86-4A2A-9207-B60361F5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14500"/>
            <a:ext cx="2095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202938"/>
          </a:solidFill>
          <a:ln xmlns:a="http://schemas.openxmlformats.org/drawingml/2006/main" w="9525">
            <a:solidFill>
              <a:srgbClr val="3540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2463E-1E21-4D8F-8DEC-57604A02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478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EB8C8"/>
                </a:solidFill>
              </a:defRPr>
            </a:pPr>
            <a:r>
              <a:rPr sz="825" b="1">
                <a:solidFill>
                  <a:srgbClr val="AEB8C8"/>
                </a:solidFill>
              </a:rPr>
              <a:t>Inférence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E7C4B-5F14-4E1E-A2E3-16A9E086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955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75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9A493-E818-461B-9637-467FDB9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4EF90-D95A-482C-85C0-F9093208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Ces validations ne remplacent pas le coeur Cora: elles testent la stabilité des conclusions.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6F694-4D0F-478B-AFFE-DC789E92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81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8EBA01-21E4-4118-A796-378D0565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957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Les résultats absents ne sont pas inventés; ils restent marqués comme en attente.</a:t>
            </a:r>
          </a:p>
        </p:txBody>
      </p:sp>
    </p:spTree>
    <p:extLst>
      <p:ext uri="{BB962C8B-B14F-4D97-AF65-F5344CB8AC3E}">
        <p14:creationId xmlns:p14="http://schemas.microsoft.com/office/powerpoint/2010/main" val="20369440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061FB-5932-44CE-9B70-43C708CC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B3088-1880-45AE-AB75-19EA3B4D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B9C4B-7293-4E3F-9393-D4C00489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Limites et perspectives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6569E-40B8-44F1-8F64-1D2DF993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0C2AF-253C-4291-9384-0FC5F0D3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Perturbations aléatoires, pas d'attaques optimisées.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2200F-B476-403E-8D42-7F5DBF95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62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92AE4-9D68-4C0B-A772-AE645D96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Benchmark contrôlé: Cora, GCN à deux couches, hyperparamètres fixes.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37A7F-2B07-482A-995C-B0AFF5F0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19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747C0-9AC5-4830-B4CE-4A0F6A2A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Les temps CPU dépendent du matériel.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4B6D5-EBC7-476E-9FA3-D073A092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76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DE844-66C4-470F-8E51-83025D17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758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7FB"/>
                </a:solidFill>
              </a:defRPr>
            </a:pPr>
            <a:r>
              <a:rPr sz="1275" b="0">
                <a:solidFill>
                  <a:srgbClr val="F5F7FB"/>
                </a:solidFill>
              </a:rPr>
              <a:t>Suite: autres architectures, attaques réelles, datasets plus variés.</a:t>
            </a:r>
          </a:p>
        </p:txBody>
      </p:sp>
    </p:spTree>
    <p:extLst>
      <p:ext uri="{BB962C8B-B14F-4D97-AF65-F5344CB8AC3E}">
        <p14:creationId xmlns:p14="http://schemas.microsoft.com/office/powerpoint/2010/main" val="6598245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16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16C81-2134-412C-8577-5766148F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D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5DF28D-E46C-4A39-BA54-6F11EE59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A0A3"/>
                </a:solidFill>
              </a:defRPr>
            </a:pPr>
            <a:r>
              <a:rPr sz="825" b="1">
                <a:solidFill>
                  <a:srgbClr val="16A0A3"/>
                </a:solidFill>
              </a:rPr>
              <a:t>Projet 13 / Option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A2942-3B20-4E8D-A46F-8C79765D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B"/>
                </a:solidFill>
              </a:defRPr>
            </a:pPr>
            <a:r>
              <a:rPr sz="2550" b="1">
                <a:solidFill>
                  <a:srgbClr val="F5F7FB"/>
                </a:solidFill>
              </a:rPr>
              <a:t>Conclusion + démonstration 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6C4BB-7547-40DA-AE89-A890C551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A0A3"/>
                </a:solidFill>
              </a:defRPr>
            </a:pPr>
            <a:r>
              <a:rPr sz="1650" b="1">
                <a:solidFill>
                  <a:srgbClr val="16A0A3"/>
                </a:solidFill>
              </a:rPr>
              <a:t>Conclusion prudente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992D8-35A6-4DB4-ABD5-9CE8B8F8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81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8BF66-26FE-433B-88A9-7BBA63EB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472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Les optimiseurs adaptatifs sont les plus stables dans ce protocole.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0185F-ADA1-4E55-B409-49B744D8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38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124AB4-E980-4C61-BA92-EAB8C36C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472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Adam et RMSProp doivent être comparés avec les intervalles.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4E383-F025-40EC-8E6A-7871C280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39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8F1D9E-5AC9-4D2A-815D-33E1DA37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472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</a:defRPr>
            </a:pPr>
            <a:r>
              <a:rPr sz="1200" b="0">
                <a:solidFill>
                  <a:srgbClr val="F5F7FB"/>
                </a:solidFill>
              </a:rPr>
              <a:t>Le dashboard donne accès aux résultats bruts et aux artefacts.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32243cfea43cb"/>
          <a:stretch xmlns:a="http://schemas.openxmlformats.org/drawingml/2006/main"/>
        </p:blipFill>
        <p:spPr>
          <a:xfrm xmlns:a="http://schemas.openxmlformats.org/drawingml/2006/main">
            <a:off x="6286500" y="1809750"/>
            <a:ext cx="1104900" cy="11049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34FEA-D4E6-4DD0-8178-68DAAF99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718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EB8C8"/>
                </a:solidFill>
              </a:defRPr>
            </a:pPr>
            <a:r>
              <a:rPr sz="900" b="1">
                <a:solidFill>
                  <a:srgbClr val="AEB8C8"/>
                </a:solidFill>
              </a:rPr>
              <a:t>Tableau de bord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5ebbec3a44c33"/>
          <a:stretch xmlns:a="http://schemas.openxmlformats.org/drawingml/2006/main"/>
        </p:blipFill>
        <p:spPr>
          <a:xfrm xmlns:a="http://schemas.openxmlformats.org/drawingml/2006/main">
            <a:off x="7620000" y="1809750"/>
            <a:ext cx="1104900" cy="11049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1A6DB-9D60-42BA-A1BC-1551048C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718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EB8C8"/>
                </a:solidFill>
              </a:defRPr>
            </a:pPr>
            <a:r>
              <a:rPr sz="900" b="1">
                <a:solidFill>
                  <a:srgbClr val="AEB8C8"/>
                </a:solidFill>
              </a:rPr>
              <a:t>GitHub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03B240-8B46-4B6F-B3C2-BBBEE7D0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8"/>
                </a:solidFill>
              </a:defRPr>
            </a:pPr>
            <a:r>
              <a:rPr sz="1050" b="0">
                <a:solidFill>
                  <a:srgbClr val="AEB8C8"/>
                </a:solidFill>
              </a:rPr>
              <a:t>Les comparaisons statistiques restent prudentes et doivent être lues avec les IC95.</a:t>
            </a:r>
          </a:p>
        </p:txBody>
      </p:sp>
    </p:spTree>
    <p:extLst>
      <p:ext uri="{BB962C8B-B14F-4D97-AF65-F5344CB8AC3E}">
        <p14:creationId xmlns:p14="http://schemas.microsoft.com/office/powerpoint/2010/main" val="9530943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2026-07-06T04:29:29.8360000Z</dcterms:created>
  <dcterms:modified xsi:type="dcterms:W3CDTF">2026-07-06T04:29:29.8370000Z</dcterms:modified>
</coreProperties>
</file>